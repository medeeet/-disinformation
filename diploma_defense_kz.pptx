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arab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1097280" cy="1097280"/>
          </a:xfrm>
          <a:prstGeom prst="rect">
            <a:avLst/>
          </a:prstGeom>
        </p:spPr>
      </p:pic>
      <p:pic>
        <p:nvPicPr>
          <p:cNvPr id="4" name="Picture 3" descr="logo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164592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164592"/>
            <a:ext cx="9079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512064"/>
            <a:ext cx="9079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859536"/>
            <a:ext cx="9079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Times New Roman"/>
              </a:rPr>
              <a:t>Киберқауіпсіздік және криптология кафедрасы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10360152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1072591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Ережелер мен маңызды белгілерге негізделген</a:t>
            </a:r>
          </a:p>
          <a:p>
            <a:pPr algn="ctr">
              <a:spcBef>
                <a:spcPts val="0"/>
              </a:spcBef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әлеуметтік желілердегі жалған ақпаратты анықтау</a:t>
            </a:r>
          </a:p>
          <a:p>
            <a:pPr algn="ctr">
              <a:spcBef>
                <a:spcPts val="0"/>
              </a:spcBef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және сүзу үшін веб-жүйені әзірлеу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977639"/>
            <a:ext cx="10360152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Times New Roman"/>
              </a:rPr>
              <a:t>Орындаған: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Times New Roman"/>
              </a:rPr>
              <a:t>[Студенттің аты-жөні]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731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Times New Roman"/>
              </a:rPr>
              <a:t>Ғылыми жетекші: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7731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Times New Roman"/>
              </a:rPr>
              <a:t>Нарбаева С.М.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3620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Алматы, 2026 ж.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Дипломдық жұмыстың мақсаты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444752"/>
            <a:ext cx="11548872" cy="877824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99616"/>
            <a:ext cx="112014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58E"/>
                </a:solidFill>
                <a:latin typeface="Times New Roman"/>
              </a:rPr>
              <a:t>Негізгі мақсат: Ережелер мен маңызды белгілерге негізделген гибридті жүйе жасау арқылы әлеуметтік желілердегі жалған ақпаратты автоматты анықтау және сүзу.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468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58E"/>
                </a:solidFill>
                <a:latin typeface="Times New Roman"/>
              </a:rPr>
              <a:t>Міндеттер: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83464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Times New Roman"/>
              </a:rPr>
              <a:t>•  ML + ереже гибридті архитектурасын жобалау (60% / 40%)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Times New Roman"/>
              </a:rPr>
              <a:t>•  Орыс және қазақ тілдерінде 45 000+ мәтін деректер жиынын дайындау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Times New Roman"/>
              </a:rPr>
              <a:t>•  ruBert-base моделін KZ деректерінде баптау (fine-tune)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Times New Roman"/>
              </a:rPr>
              <a:t>•  ONNX + INT8 кванттау арқылы жергілікті деплойға оңтайландыру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Times New Roman"/>
              </a:rPr>
              <a:t>•  FastAPI + PostgreSQL негізіндегі веб-қосымшаны іске асыру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Times New Roman"/>
              </a:rPr>
              <a:t>•  Жүйенің тиімділігін тестілеу (F1, Accuracy, Precision, Recall)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432304"/>
            <a:ext cx="4297680" cy="334670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2523744"/>
            <a:ext cx="4041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Күтілетін нәтиже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944368"/>
            <a:ext cx="39776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Times New Roman"/>
              </a:rPr>
              <a:t>✓  F1 ≥ 90% дәлдік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Times New Roman"/>
              </a:rPr>
              <a:t>✓  RU + KZ екітілді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Times New Roman"/>
              </a:rPr>
              <a:t>✓  &lt; 600 мс инференс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Times New Roman"/>
              </a:rPr>
              <a:t>✓  36 домен беделі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Times New Roman"/>
              </a:rPr>
              <a:t>✓  28 кликбейт үлгісі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Times New Roman"/>
              </a:rPr>
              <a:t>✓  PostgreSQL дерекқор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Тақырыптың өзектілігі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481328"/>
            <a:ext cx="5596128" cy="217627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91056"/>
            <a:ext cx="5230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Дезинформация ағынының өсуі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29968"/>
            <a:ext cx="5230368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Қазақстан медиакеңістігіндегі жалған ақпарат жыл сайын өсуде. Әлеуметтік желілерде 40%-ға артып отыр.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481328"/>
            <a:ext cx="5596128" cy="2176272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591056"/>
            <a:ext cx="5230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Екітілді ортаның күрделілігі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029968"/>
            <a:ext cx="5230368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Қазақ және орыс тілдерінде жұмыс жасайтын қоғамға арналған автоматтандырылған талдау айтарлықтай қиын.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77056"/>
            <a:ext cx="5596128" cy="2176272"/>
          </a:xfrm>
          <a:prstGeom prst="rect">
            <a:avLst/>
          </a:prstGeom>
          <a:solidFill>
            <a:srgbClr val="15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86784"/>
            <a:ext cx="5230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KZ-контекстік құрал жоқ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25696"/>
            <a:ext cx="5230368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Қазақстанның жергілікті медиа, мекемелер мен тақырыптарына арнайы дезинформация анықтау жүйесі жоқ.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3877056"/>
            <a:ext cx="5596128" cy="2176272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986784"/>
            <a:ext cx="5230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Қоғамдық зиян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4425696"/>
            <a:ext cx="5230368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Жалған ақпарат саяси, экономикалық зиян тигізеді: паника, наразылық, қаржылық алаяқтық.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Дипломдық жұмыстың жаңалығы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463040"/>
            <a:ext cx="5687568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463040"/>
            <a:ext cx="621792" cy="226771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231136"/>
            <a:ext cx="621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572768"/>
            <a:ext cx="47914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58E"/>
                </a:solidFill>
                <a:latin typeface="Times New Roman"/>
              </a:rPr>
              <a:t>Алғашқы KZ-контекстік жүйе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029968"/>
            <a:ext cx="479145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imes New Roman"/>
              </a:rPr>
              <a:t>Қазақстанның жергілікті медиасына арналған алғашқы дезинформация жүйесі.
120 KZ-тақырыбы: теңге, Акорда, ҰҚК, eGov, Байқоңыр, Арал т.б.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63040"/>
            <a:ext cx="5687568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63040"/>
            <a:ext cx="621792" cy="226771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231136"/>
            <a:ext cx="621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572768"/>
            <a:ext cx="47914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58E"/>
                </a:solidFill>
                <a:latin typeface="Times New Roman"/>
              </a:rPr>
              <a:t>Гибридті ML + ережелер архитектурасы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029968"/>
            <a:ext cx="479145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imes New Roman"/>
              </a:rPr>
              <a:t>ruBert-base (60%) + 5 ережелер модулі (40%).
Weighted score — тек ML немесе тек ережелерге тәуелді емес.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858768"/>
            <a:ext cx="5687568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858768"/>
            <a:ext cx="621792" cy="226771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626864"/>
            <a:ext cx="621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968496"/>
            <a:ext cx="47914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58E"/>
                </a:solidFill>
                <a:latin typeface="Times New Roman"/>
              </a:rPr>
              <a:t>Екітілді деректер жинағы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425696"/>
            <a:ext cx="479145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imes New Roman"/>
              </a:rPr>
              <a:t>45 221 мәтін RU + KZ тілдерінде.
6 аугментация әдісі, 80% мөлшерлемесі, класс теңгерімі сақталған.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858768"/>
            <a:ext cx="5687568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858768"/>
            <a:ext cx="621792" cy="226771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626864"/>
            <a:ext cx="621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968496"/>
            <a:ext cx="47914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58E"/>
                </a:solidFill>
                <a:latin typeface="Times New Roman"/>
              </a:rPr>
              <a:t>Оңтайландырылған деплой + PostgreSQL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4425696"/>
            <a:ext cx="479145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imes New Roman"/>
              </a:rPr>
              <a:t>ONNX + INT8 кванттау: 680 МБ → 171 МБ (4× қысу).
PostgreSQL дерекқоры — барлық талдаулар сақталып, іздеу мүмкін.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Аналогтары — Бар жүйелермен салыстыру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2926080" cy="45720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508760"/>
            <a:ext cx="2816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Жүйе / Платформа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6976" y="1463040"/>
            <a:ext cx="1234440" cy="45720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508760"/>
            <a:ext cx="1124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Тіл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7992" y="1463040"/>
            <a:ext cx="1508760" cy="45720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1508760"/>
            <a:ext cx="1399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KZ-контекст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8" y="1463040"/>
            <a:ext cx="3108960" cy="45720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508760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ML + Ережелер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98864" y="1463040"/>
            <a:ext cx="2148840" cy="45720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1508760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Жергілікті деплой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975104"/>
            <a:ext cx="292608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2084832"/>
            <a:ext cx="28163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FakeNewsNet (АҚШ)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6976" y="1975104"/>
            <a:ext cx="123444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2084832"/>
            <a:ext cx="1124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Ағылшын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7992" y="1975104"/>
            <a:ext cx="150876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6" y="2084832"/>
            <a:ext cx="13990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3328" y="1975104"/>
            <a:ext cx="310896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8192" y="2084832"/>
            <a:ext cx="29992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✗  (тек ML)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98864" y="1975104"/>
            <a:ext cx="214884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53728" y="2084832"/>
            <a:ext cx="20391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724912"/>
            <a:ext cx="292608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" y="2834640"/>
            <a:ext cx="28163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RuFake (Ресей)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6976" y="2724912"/>
            <a:ext cx="12344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2834640"/>
            <a:ext cx="1124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Орыс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07992" y="2724912"/>
            <a:ext cx="15087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2856" y="2834640"/>
            <a:ext cx="13990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53328" y="2724912"/>
            <a:ext cx="31089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08192" y="2834640"/>
            <a:ext cx="29992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✗  (тек ML)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98864" y="2724912"/>
            <a:ext cx="21488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53728" y="2834640"/>
            <a:ext cx="20391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474720"/>
            <a:ext cx="292608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" y="3584448"/>
            <a:ext cx="28163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FEVER (Ұлыбритания)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36976" y="3474720"/>
            <a:ext cx="123444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3584448"/>
            <a:ext cx="1124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Ағылшын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07992" y="3474720"/>
            <a:ext cx="150876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62856" y="3584448"/>
            <a:ext cx="13990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53328" y="3474720"/>
            <a:ext cx="310896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08192" y="3584448"/>
            <a:ext cx="29992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✗  (фактчек ғана)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98864" y="3474720"/>
            <a:ext cx="214884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53728" y="3584448"/>
            <a:ext cx="20391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224528"/>
            <a:ext cx="292608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9184" y="4334256"/>
            <a:ext cx="28163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ClaimBuster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36976" y="4224528"/>
            <a:ext cx="12344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0" y="4334256"/>
            <a:ext cx="1124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Ағылшын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07992" y="4224528"/>
            <a:ext cx="15087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62856" y="4334256"/>
            <a:ext cx="13990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53328" y="4224528"/>
            <a:ext cx="31089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08192" y="4334256"/>
            <a:ext cx="29992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✗  (тек API)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98864" y="4224528"/>
            <a:ext cx="21488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53728" y="4334256"/>
            <a:ext cx="20391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974336"/>
            <a:ext cx="2926080" cy="694944"/>
          </a:xfrm>
          <a:prstGeom prst="rect">
            <a:avLst/>
          </a:prstGeom>
          <a:solidFill>
            <a:srgbClr val="00358E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4" y="5084064"/>
            <a:ext cx="28163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Ұсынылған жүйе 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36976" y="4974336"/>
            <a:ext cx="1234440" cy="694944"/>
          </a:xfrm>
          <a:prstGeom prst="rect">
            <a:avLst/>
          </a:prstGeom>
          <a:solidFill>
            <a:srgbClr val="00358E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91840" y="5084064"/>
            <a:ext cx="1124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RU + KZ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07992" y="4974336"/>
            <a:ext cx="1508760" cy="694944"/>
          </a:xfrm>
          <a:prstGeom prst="rect">
            <a:avLst/>
          </a:prstGeom>
          <a:solidFill>
            <a:srgbClr val="00358E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62856" y="5084064"/>
            <a:ext cx="13990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53328" y="4974336"/>
            <a:ext cx="3108960" cy="694944"/>
          </a:xfrm>
          <a:prstGeom prst="rect">
            <a:avLst/>
          </a:prstGeom>
          <a:solidFill>
            <a:srgbClr val="00358E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08192" y="5084064"/>
            <a:ext cx="29992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✓  ML 60% + ережелер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98864" y="4974336"/>
            <a:ext cx="2148840" cy="694944"/>
          </a:xfrm>
          <a:prstGeom prst="rect">
            <a:avLst/>
          </a:prstGeom>
          <a:solidFill>
            <a:srgbClr val="00358E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53728" y="5084064"/>
            <a:ext cx="20391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5943600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8"/>
                </a:solidFill>
                <a:latin typeface="Times New Roman"/>
              </a:rPr>
              <a:t>★  Ұсынылған жүйе KZ-контексімен, екітілді қолдауымен және гибридті архитектурасымен аналогтардан ерекшеленеді.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Жүйе архитектурасы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2084831" cy="7132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499616"/>
            <a:ext cx="20848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① Кіріс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81051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Мәтін /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6583" y="1572768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58E"/>
                </a:solidFill>
                <a:latin typeface="Times New Roman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19" y="1463040"/>
            <a:ext cx="2084831" cy="713232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19" y="1499616"/>
            <a:ext cx="20848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②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19" y="181051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ruBert-base
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2" y="1572768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58E"/>
                </a:solidFill>
                <a:latin typeface="Times New Roman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18" y="1463040"/>
            <a:ext cx="2084831" cy="713232"/>
          </a:xfrm>
          <a:prstGeom prst="rect">
            <a:avLst/>
          </a:prstGeom>
          <a:solidFill>
            <a:srgbClr val="15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18" y="1499616"/>
            <a:ext cx="20848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③ Ережелер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18" y="181051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5 модуль
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1" y="1572768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58E"/>
                </a:solidFill>
                <a:latin typeface="Times New Roman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17" y="1463040"/>
            <a:ext cx="2084831" cy="7132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17" y="1499616"/>
            <a:ext cx="20848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④ Скор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17" y="181051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Weighted
60/40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0" y="1572768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58E"/>
                </a:solidFill>
                <a:latin typeface="Times New Roman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16" y="1463040"/>
            <a:ext cx="2084831" cy="713232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16" y="1499616"/>
            <a:ext cx="20848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⑤ Нәтиже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6" y="181051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Есеп +
PostgreSQL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359152"/>
            <a:ext cx="5486400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2359152"/>
            <a:ext cx="5486400" cy="402336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395728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ML-модель — 60%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2834640"/>
            <a:ext cx="5248656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ai-forever/ruBert-base (178М параметр)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KZ деректерінде fine-tuned (4 эпоха, T4 GPU)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ONNX экспорт → INT8 кванттау (4× қысу)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Инференс медианасы: ~550 мс (CPUExecutionProvider)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MAX_SEQ_LENGTH = 256 токен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2359152"/>
            <a:ext cx="5925312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1E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9320" y="2359152"/>
            <a:ext cx="5925312" cy="402336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2395728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Ережелер жүйесі — 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9048" y="2834640"/>
            <a:ext cx="5687568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Кликбейт — 28 үлгі (RU + KZ)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Лингвистика — эмоциялық лексика (4 категория)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Дереккөз беделі — 36 домен рейтингі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Құрылым — ұзындық, сан деректері тексеру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Фактчек — Google Custom Search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Деректер жиыны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2761488" cy="1170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517904"/>
            <a:ext cx="2761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45 221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139696"/>
            <a:ext cx="2761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imes New Roman"/>
              </a:rPr>
              <a:t>жалпы мәтін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463040"/>
            <a:ext cx="2761488" cy="1170432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1517904"/>
            <a:ext cx="2761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~35 000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139696"/>
            <a:ext cx="2761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imes New Roman"/>
              </a:rPr>
              <a:t>нақты жаңалық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463040"/>
            <a:ext cx="2761488" cy="1170432"/>
          </a:xfrm>
          <a:prstGeom prst="rect">
            <a:avLst/>
          </a:prstGeom>
          <a:solidFill>
            <a:srgbClr val="15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517904"/>
            <a:ext cx="2761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~11 400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139696"/>
            <a:ext cx="2761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imes New Roman"/>
              </a:rPr>
              <a:t>синтетикалық
дезинфо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1463040"/>
            <a:ext cx="2761488" cy="1170432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517904"/>
            <a:ext cx="2761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~10 000+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39696"/>
            <a:ext cx="2761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imes New Roman"/>
              </a:rPr>
              <a:t>аугментация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34640"/>
            <a:ext cx="5486400" cy="3163824"/>
          </a:xfrm>
          <a:prstGeom prst="rect">
            <a:avLst/>
          </a:prstGeom>
          <a:solidFill>
            <a:srgbClr val="FFFFFF"/>
          </a:solidFill>
          <a:ln w="1524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834640"/>
            <a:ext cx="5486400" cy="384048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871216"/>
            <a:ext cx="5321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</a:rPr>
              <a:t>Деректер бөлінісі (Стратифицирленген)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328416"/>
            <a:ext cx="5376672" cy="603504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" y="341985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58E"/>
                </a:solidFill>
                <a:latin typeface="Times New Roman"/>
              </a:rPr>
              <a:t>Train: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341985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imes New Roman"/>
              </a:rPr>
              <a:t>31 654 мәтін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41985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358E"/>
                </a:solidFill>
                <a:latin typeface="Times New Roman"/>
              </a:rPr>
              <a:t>70%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986784"/>
            <a:ext cx="53766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" y="4078224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58E"/>
                </a:solidFill>
                <a:latin typeface="Times New Roman"/>
              </a:rPr>
              <a:t>Validation: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07822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imes New Roman"/>
              </a:rPr>
              <a:t xml:space="preserve"> 6 783 мәтін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078224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358E"/>
                </a:solidFill>
                <a:latin typeface="Times New Roman"/>
              </a:rPr>
              <a:t>15%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645152"/>
            <a:ext cx="5376672" cy="603504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" y="473659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58E"/>
                </a:solidFill>
                <a:latin typeface="Times New Roman"/>
              </a:rPr>
              <a:t>Test: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47365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imes New Roman"/>
              </a:rPr>
              <a:t xml:space="preserve"> 6 784 мәтін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73659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358E"/>
                </a:solidFill>
                <a:latin typeface="Times New Roman"/>
              </a:rPr>
              <a:t>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5595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3E"/>
                </a:solidFill>
                <a:latin typeface="Times New Roman"/>
              </a:rPr>
              <a:t>Класс теңгерімі сақталған 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2834640"/>
            <a:ext cx="5925312" cy="3163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E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89320" y="2834640"/>
            <a:ext cx="5925312" cy="384048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71216"/>
            <a:ext cx="5742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</a:rPr>
              <a:t>Дереккөздер және KZ тақырыптары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9048" y="3310128"/>
            <a:ext cx="5687568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  <a:latin typeface="Times New Roman"/>
              </a:rPr>
              <a:t>▸  Нақты жаңалық: gazeta.ru · lenta.ru · ria.ru · mlsum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  <a:latin typeface="Times New Roman"/>
              </a:rPr>
              <a:t>▸  KZ тақырыптары: 120 (теңге, Акорда, ҰҚК, eGov, Байқоңыр...)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  <a:latin typeface="Times New Roman"/>
              </a:rPr>
              <a:t>▸  RU дезинфо: 120 × 65 үлгі = 7 800 мәтін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  <a:latin typeface="Times New Roman"/>
              </a:rPr>
              <a:t>▸  KZ дезинфо: 120 × 30 үлгі = 3 600 мәтін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  <a:latin typeface="Times New Roman"/>
              </a:rPr>
              <a:t>▸  RU сенімді: 120 × 25 = 3 000 · KZ: 120 × 15 = 1 800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  <a:latin typeface="Times New Roman"/>
              </a:rPr>
              <a:t>▸  Аугментация: 6 әдіс, 80% мөлшерлеме (~10 000+)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Модельді оқыту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5486400" cy="402336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99616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Гиперпараметрлер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56816"/>
            <a:ext cx="53766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2011680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Модель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1" y="2011680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ai-forever/ruBert-base (178М)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432304"/>
            <a:ext cx="5376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487168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Эпохалар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2487168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4  (early stopping + best checkpoint)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07792"/>
            <a:ext cx="53766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2962656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Learning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4831" y="2962656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2e-5  |  AdamW optimizer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383280"/>
            <a:ext cx="5376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438144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Batch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1" y="3438144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16 × grad_accum 2 = эффективті 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858768"/>
            <a:ext cx="53766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" y="3913632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MAX_LENGTH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4831" y="3913632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256 токен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334256"/>
            <a:ext cx="5376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4389120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Warmup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84831" y="4389120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10%  |  Weight decay: 0.01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809744"/>
            <a:ext cx="53766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" y="4864608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Платформа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84831" y="4864608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Google Colab T4 GPU (16 ГБ)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285232"/>
            <a:ext cx="5376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5340096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Оқыту уақыты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84831" y="5340096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~70 минут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1463040"/>
            <a:ext cx="5925312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89320" y="1463040"/>
            <a:ext cx="5925312" cy="402336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1499616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Экспорт жолы (Модель оңтайландыру)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2029968"/>
            <a:ext cx="1261872" cy="1024128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2084832"/>
            <a:ext cx="12618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PyTorch
.bin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259689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imes New Roman"/>
              </a:rPr>
              <a:t>680 МБ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71231" y="2212848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Times New Roman"/>
              </a:rPr>
              <a:t>Базалық модель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71231" y="2633472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8"/>
                </a:solidFill>
                <a:latin typeface="Times New Roman"/>
              </a:rPr>
              <a:t>Өлшемі: 680 МБ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307238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58E"/>
                </a:solidFill>
                <a:latin typeface="Times New Roman"/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3328416"/>
            <a:ext cx="1261872" cy="1024128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3383280"/>
            <a:ext cx="12618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ONNX
.onnx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3895344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imes New Roman"/>
              </a:rPr>
              <a:t>680 МБ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71231" y="3511296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Times New Roman"/>
              </a:rPr>
              <a:t>Кросс-платформа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71231" y="393192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8"/>
                </a:solidFill>
                <a:latin typeface="Times New Roman"/>
              </a:rPr>
              <a:t>Өлшемі: 680 МБ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43708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58E"/>
                </a:solidFill>
                <a:latin typeface="Times New Roman"/>
              </a:rPr>
              <a:t>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4626864"/>
            <a:ext cx="1261872" cy="1024128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72200" y="4681728"/>
            <a:ext cx="12618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INT8
.onnx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0" y="519379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imes New Roman"/>
              </a:rPr>
              <a:t>171 МБ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71231" y="4809744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Times New Roman"/>
              </a:rPr>
              <a:t>4× қысу (optimum)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71231" y="5230368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8"/>
                </a:solidFill>
                <a:latin typeface="Times New Roman"/>
              </a:rPr>
              <a:t>Өлшемі: 171 МБ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80760" y="5815584"/>
            <a:ext cx="5650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3E"/>
                </a:solidFill>
                <a:latin typeface="Times New Roman"/>
              </a:rPr>
              <a:t>Нәтиже: CPU-да жергілікті деплой, GPU талап етілмейді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Модель нәтижелері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2761488" cy="126187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517904"/>
            <a:ext cx="27614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Times New Roman"/>
              </a:rPr>
              <a:t>99.9%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231136"/>
            <a:ext cx="2761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>F1-скор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463040"/>
            <a:ext cx="2761488" cy="1261872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1517904"/>
            <a:ext cx="27614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Times New Roman"/>
              </a:rPr>
              <a:t>99.9%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231136"/>
            <a:ext cx="2761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>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463040"/>
            <a:ext cx="2761488" cy="1261872"/>
          </a:xfrm>
          <a:prstGeom prst="rect">
            <a:avLst/>
          </a:prstGeom>
          <a:solidFill>
            <a:srgbClr val="15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517904"/>
            <a:ext cx="27614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Times New Roman"/>
              </a:rPr>
              <a:t>99.9%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231136"/>
            <a:ext cx="2761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>Precision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1463040"/>
            <a:ext cx="2761488" cy="126187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517904"/>
            <a:ext cx="27614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Times New Roman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31136"/>
            <a:ext cx="2761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>Recall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907792"/>
            <a:ext cx="5486400" cy="30723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907792"/>
            <a:ext cx="5486400" cy="384048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944368"/>
            <a:ext cx="5321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</a:rPr>
              <a:t>Confusion Matrix — Тест жиынтығы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01568"/>
            <a:ext cx="53766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" y="3465576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Тест жиыны: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488" y="346557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6 784 мәтін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877056"/>
            <a:ext cx="5376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3941064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Дұрыс жіктелген: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1488" y="394106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6 778 / 6 784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352544"/>
            <a:ext cx="53766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" y="4416552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Қате жіктелген: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1488" y="44165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Times New Roman"/>
              </a:rPr>
              <a:t>тек 6 мәтін (0.09%)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28032"/>
            <a:ext cx="5376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4892040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Нақты → нақты: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61488" y="48920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873E"/>
                </a:solidFill>
                <a:latin typeface="Times New Roman"/>
              </a:rPr>
              <a:t>Дұрыс анықталды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303520"/>
            <a:ext cx="53766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" y="5367528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Дезинфо → дезинфо: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1488" y="53675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873E"/>
                </a:solidFill>
                <a:latin typeface="Times New Roman"/>
              </a:rPr>
              <a:t>Дұрыс анықталды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2907792"/>
            <a:ext cx="5925312" cy="3072384"/>
          </a:xfrm>
          <a:prstGeom prst="rect">
            <a:avLst/>
          </a:prstGeom>
          <a:solidFill>
            <a:srgbClr val="FFFFFF"/>
          </a:solidFill>
          <a:ln w="19050">
            <a:solidFill>
              <a:srgbClr val="1E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89320" y="2907792"/>
            <a:ext cx="5925312" cy="384048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2944368"/>
            <a:ext cx="5742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</a:rPr>
              <a:t>Инференс жылдамдығы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401568"/>
            <a:ext cx="58338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08192" y="3465576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Медиана: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7" y="3465576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~550 мс  (CPU)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3877056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08192" y="3941064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P95: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82127" y="3941064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~620 мс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4352544"/>
            <a:ext cx="58338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08192" y="44165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Модель: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4416552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INT8 кванттау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4828032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08192" y="489204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Провайдер: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82127" y="4892040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CPUExecutionProvider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303520"/>
            <a:ext cx="58338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08192" y="536752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GPU болса: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7" y="5367528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873E"/>
                </a:solidFill>
                <a:latin typeface="Times New Roman"/>
              </a:rPr>
              <a:t>&lt; 100 мс мүмкін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5943600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8"/>
                </a:solidFill>
                <a:latin typeface="Times New Roman"/>
              </a:rPr>
              <a:t>★  Синтетикалық тест жиынтығында іс жүзінде мінсіз нәтиже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Веб-қосымша интерфейсі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3822191" cy="2322576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591056"/>
            <a:ext cx="3493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</a:rPr>
              <a:t>📝 Мәтін / URL талдау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066544"/>
            <a:ext cx="3493007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Мәтінді немесе мақала сілтемесін енгізіп,
дереу талдаудан өткізу мүмкіндігі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463040"/>
            <a:ext cx="3822191" cy="2322576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1" y="1591056"/>
            <a:ext cx="3493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</a:rPr>
              <a:t>📊 Толық есеп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1" y="2066544"/>
            <a:ext cx="3493007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ML-скор + 5 ереже модулінің нәтижесі
+ анықталған белгілер тізімі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8" y="1463040"/>
            <a:ext cx="3822191" cy="2322576"/>
          </a:xfrm>
          <a:prstGeom prst="rect">
            <a:avLst/>
          </a:prstGeom>
          <a:solidFill>
            <a:srgbClr val="15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0" y="1591056"/>
            <a:ext cx="3493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</a:rPr>
              <a:t>📚 12 мысал мәтін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0" y="2066544"/>
            <a:ext cx="3493007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RU + KZ тілдерінде фейк және нақты
жаңалық үлгілері — тест үшін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13632"/>
            <a:ext cx="3822191" cy="2322576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4041648"/>
            <a:ext cx="3493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</a:rPr>
              <a:t>🗄️ PostgreSQL дерекқор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4517136"/>
            <a:ext cx="3493007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Барлық талдаулар сақталады, тарихты
қарауға және іздеуге болады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3913632"/>
            <a:ext cx="3822191" cy="2322576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1" y="4041648"/>
            <a:ext cx="3493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</a:rPr>
              <a:t>🌐 36 домен рейтингі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1" y="4517136"/>
            <a:ext cx="3493007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KZ медиа + халықаралық + үгіт-насихат
сайттарының сенімділік рейтингі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598" y="3913632"/>
            <a:ext cx="3822191" cy="2322576"/>
          </a:xfrm>
          <a:prstGeom prst="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0" y="4041648"/>
            <a:ext cx="3493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</a:rPr>
              <a:t>🎨 Dark UI / Адаптивті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0" y="4517136"/>
            <a:ext cx="3493007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FastAPI + HTMX + адаптивті интерфейс,
барлық экран өлшемінде жұмыс істейді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Технологиялар стегі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2761488" cy="46268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2761488" cy="45720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499616"/>
            <a:ext cx="2615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Бэкенд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2029968"/>
            <a:ext cx="25054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Python 3.12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FastAPI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Uvicorn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PostgreSQL + asyncpg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HTMX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63824" y="1463040"/>
            <a:ext cx="2761488" cy="4626864"/>
          </a:xfrm>
          <a:prstGeom prst="rect">
            <a:avLst/>
          </a:prstGeom>
          <a:solidFill>
            <a:srgbClr val="FFFFFF"/>
          </a:solidFill>
          <a:ln w="25400">
            <a:solidFill>
              <a:srgbClr val="1E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63824" y="1463040"/>
            <a:ext cx="2761488" cy="457200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6976" y="1499616"/>
            <a:ext cx="2615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ML / Инференс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29968"/>
            <a:ext cx="25054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HuggingFace Transformers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ONNX Runtime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Optimum (INT8)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PyTorch (оқыту)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1463040"/>
            <a:ext cx="2761488" cy="4626864"/>
          </a:xfrm>
          <a:prstGeom prst="rect">
            <a:avLst/>
          </a:prstGeom>
          <a:solidFill>
            <a:srgbClr val="FFFFFF"/>
          </a:solidFill>
          <a:ln w="25400">
            <a:solidFill>
              <a:srgbClr val="154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53328" y="1463040"/>
            <a:ext cx="2761488" cy="457200"/>
          </a:xfrm>
          <a:prstGeom prst="rect">
            <a:avLst/>
          </a:prstGeom>
          <a:solidFill>
            <a:srgbClr val="15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499616"/>
            <a:ext cx="2615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Оқыту орны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2029968"/>
            <a:ext cx="25054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Google Colab T4 GPU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Google Drive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Datasets (HF)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scikit-learn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42832" y="1463040"/>
            <a:ext cx="2761488" cy="4626864"/>
          </a:xfrm>
          <a:prstGeom prst="rect">
            <a:avLst/>
          </a:prstGeom>
          <a:solidFill>
            <a:srgbClr val="FFFFFF"/>
          </a:solidFill>
          <a:ln w="254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42832" y="1463040"/>
            <a:ext cx="2761488" cy="45720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15984" y="1499616"/>
            <a:ext cx="2615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Деректер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2029968"/>
            <a:ext cx="25054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36 KZ/RU домен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120 KZ тақырыбы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6 аугментация әдісі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45 221 мәтін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Шектеулер және болашақ жоспарлар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4626864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5486400" cy="42062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99616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⚠  Ағымдағы шектеулер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1993392"/>
            <a:ext cx="5248656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C0392B"/>
                </a:solidFill>
                <a:latin typeface="Times New Roman"/>
              </a:rPr>
              <a:t>✗  Тек RU + KZ — ағылшын тілі жоқ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0392B"/>
                </a:solidFill>
                <a:latin typeface="Times New Roman"/>
              </a:rPr>
              <a:t>✗  Синтетикалық деректер — нақты KZ жаңалықтары аз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0392B"/>
                </a:solidFill>
                <a:latin typeface="Times New Roman"/>
              </a:rPr>
              <a:t>✗  CPU инференс ~550 мс — реалтайм үшін баяу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0392B"/>
                </a:solidFill>
                <a:latin typeface="Times New Roman"/>
              </a:rPr>
              <a:t>✗  URL талдауы — барлық сайт қолданылмайды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0392B"/>
                </a:solidFill>
                <a:latin typeface="Times New Roman"/>
              </a:rPr>
              <a:t>✗  Қысқа мәтін (&lt;30 сөз) — сенімділік төмен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463040"/>
            <a:ext cx="5925312" cy="4626864"/>
          </a:xfrm>
          <a:prstGeom prst="rect">
            <a:avLst/>
          </a:prstGeom>
          <a:solidFill>
            <a:srgbClr val="FFFFFF"/>
          </a:solidFill>
          <a:ln w="19050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463040"/>
            <a:ext cx="5925312" cy="420624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499616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✓  Болашақ жоспарлар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1993392"/>
            <a:ext cx="5650992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1B873E"/>
                </a:solidFill>
                <a:latin typeface="Times New Roman"/>
              </a:rPr>
              <a:t>→  Нақты KZ жаңалықтарымен қайта оқыту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1B873E"/>
                </a:solidFill>
                <a:latin typeface="Times New Roman"/>
              </a:rPr>
              <a:t>→  XLM-RoBERTa — көптілді модель (EN қосу)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1B873E"/>
                </a:solidFill>
                <a:latin typeface="Times New Roman"/>
              </a:rPr>
              <a:t>→  GPU деплой — инференсті &lt;100 мс жылдамдату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1B873E"/>
                </a:solidFill>
                <a:latin typeface="Times New Roman"/>
              </a:rPr>
              <a:t>→  БАҚ және фактчек ұйымдары үшін REST API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1B873E"/>
                </a:solidFill>
                <a:latin typeface="Times New Roman"/>
              </a:rPr>
              <a:t>→  Браузер плагині — тікелей тексеру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Қорытынды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Conclusions"/>
          <p:cNvSpPr txBox="1"/>
          <p:nvPr/>
        </p:nvSpPr>
        <p:spPr>
          <a:xfrm>
            <a:off x="320040" y="1430000"/>
            <a:ext cx="1152144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Char char="✔"/>
            </a:pPr>
            <a:r>
              <a:rPr sz="1400" b="1" i="0" lang="ru-RU">
                <a:solidFill>
                  <a:srgbClr val="00358E"/>
                </a:solidFill>
                <a:latin typeface="Times New Roman"/>
              </a:rPr>
              <a:t xml:space="preserve">Гибридті дезинформация жүйесі табысты іске асырылды — </a:t>
            </a:r>
            <a:r>
              <a:rPr sz="1400" b="0" i="0" lang="ru-RU">
                <a:solidFill>
                  <a:srgbClr val="1A1A1A"/>
                </a:solidFill>
                <a:latin typeface="Times New Roman"/>
              </a:rPr>
              <a:t>ML (ruBert-base, 60%) және бес ережелер модулін (40%) біріктіретін weighted scoring архитектурасы жасалды.</a:t>
            </a:r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Char char="✔"/>
            </a:pPr>
            <a:r>
              <a:rPr sz="1400" b="1" i="0" lang="ru-RU">
                <a:solidFill>
                  <a:srgbClr val="00358E"/>
                </a:solidFill>
                <a:latin typeface="Times New Roman"/>
              </a:rPr>
              <a:t xml:space="preserve">Қазақстанға арнайы екітілді деректер жиыны дайындалды — </a:t>
            </a:r>
            <a:r>
              <a:rPr sz="1400" b="0" i="0" lang="ru-RU">
                <a:solidFill>
                  <a:srgbClr val="1A1A1A"/>
                </a:solidFill>
                <a:latin typeface="Times New Roman"/>
              </a:rPr>
              <a:t>120 KZ-тақырыбын (Акорда, теңге, ҰҚК, Байқоңыр т.б.) қамтитын орыс және қазақ тілдерінде нақты мәтіндер жинақталды.</a:t>
            </a:r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Char char="✔"/>
            </a:pPr>
            <a:r>
              <a:rPr sz="1400" b="1" i="0" lang="ru-RU">
                <a:solidFill>
                  <a:srgbClr val="00358E"/>
                </a:solidFill>
                <a:latin typeface="Times New Roman"/>
              </a:rPr>
              <a:t xml:space="preserve">Модель жоғары дәлдікпен оқытылды — </a:t>
            </a:r>
            <a:r>
              <a:rPr sz="1400" b="0" i="0" lang="ru-RU">
                <a:solidFill>
                  <a:srgbClr val="1A1A1A"/>
                </a:solidFill>
                <a:latin typeface="Times New Roman"/>
              </a:rPr>
              <a:t>ruBert-base KZ деректерінде баптауден өтіп, тест жиынтығында іс жүзінде мінсіз жіктеу нәтижесін көрсетті.</a:t>
            </a:r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Char char="✔"/>
            </a:pPr>
            <a:r>
              <a:rPr sz="1400" b="1" i="0" lang="ru-RU">
                <a:solidFill>
                  <a:srgbClr val="00358E"/>
                </a:solidFill>
                <a:latin typeface="Times New Roman"/>
              </a:rPr>
              <a:t xml:space="preserve">Модель жергілікті деплойға оңтайландырылды — </a:t>
            </a:r>
            <a:r>
              <a:rPr sz="1400" b="0" i="0" lang="ru-RU">
                <a:solidFill>
                  <a:srgbClr val="1A1A1A"/>
                </a:solidFill>
                <a:latin typeface="Times New Roman"/>
              </a:rPr>
              <a:t>ONNX экспорты және INT8 кванттау арқылы модель төрт есе кішірейтіліп, GPU-сыз CPU-да жұмыс жасайтын болды.</a:t>
            </a:r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Char char="✔"/>
            </a:pPr>
            <a:r>
              <a:rPr sz="1400" b="1" i="0" lang="ru-RU">
                <a:solidFill>
                  <a:srgbClr val="00358E"/>
                </a:solidFill>
                <a:latin typeface="Times New Roman"/>
              </a:rPr>
              <a:t xml:space="preserve">Толық функционалды веб-қосымша жасалды — </a:t>
            </a:r>
            <a:r>
              <a:rPr sz="1400" b="0" i="0" lang="ru-RU">
                <a:solidFill>
                  <a:srgbClr val="1A1A1A"/>
                </a:solidFill>
                <a:latin typeface="Times New Roman"/>
              </a:rPr>
              <a:t>FastAPI + PostgreSQL негізінде мәтін мен URL талдайтын, барлық нәтижелерді сақтайтын және іздеуге мүмкіндік беретін жүйе іске асырылды.</a:t>
            </a:r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Char char="✔"/>
            </a:pPr>
            <a:r>
              <a:rPr sz="1400" b="1" i="0" lang="ru-RU">
                <a:solidFill>
                  <a:srgbClr val="00358E"/>
                </a:solidFill>
                <a:latin typeface="Times New Roman"/>
              </a:rPr>
              <a:t xml:space="preserve">Жүйе Қазақстан медиакеңістігі үшін нақты қолданбалы мән береді — </a:t>
            </a:r>
            <a:r>
              <a:rPr sz="1400" b="0" i="0" lang="ru-RU">
                <a:solidFill>
                  <a:srgbClr val="1A1A1A"/>
                </a:solidFill>
                <a:latin typeface="Times New Roman"/>
              </a:rPr>
              <a:t>бұл Қазақстанның жергілікті тақырыптарын, медиа дереккөздерін және екітілді ортасын ескеретін алғашқы арнайы дезинформация анықтау жүйесі.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5566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6578"/>
                </a:solidFill>
                <a:latin typeface="Times New Roman"/>
              </a:rPr>
              <a:t>ruBert-base  ·  FastAPI  ·  ONNX  ·  PostgreSQL  ·  Қазақстан  — 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farab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"/>
            <a:ext cx="877824" cy="877824"/>
          </a:xfrm>
          <a:prstGeom prst="rect">
            <a:avLst/>
          </a:prstGeom>
        </p:spPr>
      </p:pic>
      <p:pic>
        <p:nvPicPr>
          <p:cNvPr id="6" name="Picture 5" descr="logo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3928" y="109728"/>
            <a:ext cx="877824" cy="8778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7320" y="146304"/>
            <a:ext cx="9354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475488"/>
            <a:ext cx="9354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7616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358E"/>
                </a:solidFill>
                <a:latin typeface="Times New Roman"/>
              </a:rPr>
              <a:t>Назарларыңызға рахмет!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395728"/>
            <a:ext cx="7616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78608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556578"/>
                </a:solidFill>
                <a:latin typeface="Times New Roman"/>
              </a:rPr>
              <a:t>Сұрақтарыңызға жауап беруге дайынмын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Тақырып: Ережелер мен маңызды белгілерге негізделген әлеуметтік желілердегі жалған ақпаратты анықтау және сүзу үшін веб-жүйені әзірлеу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Ғылыми жетекші: Нарбаева С.М.  |  Алматы, 2026 ж.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Стек: ruBert-base · FastAPI · ONNX · INT8 · PostgreSQL · KZ+RU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