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ara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097280" cy="1097280"/>
          </a:xfrm>
          <a:prstGeom prst="rect">
            <a:avLst/>
          </a:prstGeom>
        </p:spPr>
      </p:pic>
      <p:pic>
        <p:nvPicPr>
          <p:cNvPr id="4" name="Picture 3" descr="logo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164592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64592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512064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859536"/>
            <a:ext cx="9079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Киберқауіпсіздік және криптология кафедрасы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10360152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72591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Ережелер мен маңызды белгілерге негізделген киберқауіпсіздік</a:t>
            </a:r>
          </a:p>
          <a:p>
            <a:pPr algn="ctr">
              <a:spcBef>
                <a:spcPts val="0"/>
              </a:spcBef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қатерлерін — дезинформацияны, фишингті және</a:t>
            </a:r>
          </a:p>
          <a:p>
            <a:pPr algn="ctr">
              <a:spcBef>
                <a:spcPts val="0"/>
              </a:spcBef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әлеуметтік инженерияны анықтау үшін CyberShield KZ веб-жүйесін әзірлеу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77639"/>
            <a:ext cx="10360152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Орындаған: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[Студенттің аты-жөні]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731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Ғылыми жетекші: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773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Times New Roman"/>
              </a:rPr>
              <a:t>Нарбаева С.М.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Алматы, 2026 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Дипломдық жұмыстың мақсаты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44752"/>
            <a:ext cx="11548872" cy="877824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99616"/>
            <a:ext cx="11201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Негізгі мақсат: Ережелер мен маңызды белгілерге негізделген гибридті CyberShield KZ жүйесін жасау арқылы дезинформацияны, фишингті және әлеуметтік инженерияны автоматты анықтау.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58E"/>
                </a:solidFill>
                <a:latin typeface="Times New Roman"/>
              </a:rPr>
              <a:t>Міндеттер: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ML + ереже гибридті архитектурасын жобалау (40% / 60%)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Орыс және қазақ тілдерінде 45 000+ мәтін деректер жиынын дайындау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ruBert-base моделін KZ деректерінде баптау (fine-tune)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ONNX + INT8 кванттау арқылы жергілікті деплойға оңтайландыру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FastAPI + PostgreSQL негізіндегі веб-қосымшаны іске асыру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A1A1A"/>
                </a:solidFill>
                <a:latin typeface="Times New Roman"/>
              </a:rPr>
              <a:t>•  Жүйенің тиімділігін тестілеу (F1, Accuracy, Precision, Recall)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432304"/>
            <a:ext cx="4297680" cy="334670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2523744"/>
            <a:ext cx="4041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Күтілетін нәтиже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944368"/>
            <a:ext cx="3977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F1 ≥ 90% дәлдік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RU + KZ екітілді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&lt; 600 мс инференс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36 домен беделі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42 фишинг үлгісі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PostgreSQL дерекқор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5 қатер түрін анықтау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Times New Roman"/>
              </a:rPr>
              <a:t>✓  URL қауіпсіздік талдауы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Тақырыптың өзектілігі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5596128" cy="217627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91056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Дезинформация ағынының өсуі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29968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Қазақстан медиакеңістігіндегі жалған ақпарат жыл сайын өсуде. Әлеуметтік желілерде 40%-ға артып отыр.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481328"/>
            <a:ext cx="5596128" cy="217627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91056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Екітілді ортаның күрделілігі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29968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Қазақ және орыс тілдерінде жұмыс жасайтын қоғамға арналған автоматтандырылған талдау айтарлықтай қиын.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877056"/>
            <a:ext cx="5596128" cy="217627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86784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KZ-контекстік құрал жоқ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25696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Қазақстанның жергілікті медиа, мекемелер мен тақырыптарына арнайы дезинформация анықтау жүйесі жоқ.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3877056"/>
            <a:ext cx="5596128" cy="217627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986784"/>
            <a:ext cx="52303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Қоғамдық зиян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425696"/>
            <a:ext cx="5230368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Жалған ақпарат саяси, экономикалық зиян тигізеді: паника, наразылық, қаржылық алаяқтық.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Дипломдық жұмыстың жаңалығы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463040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463040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31136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572768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Алғашқы KZ-контекстік жүйе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029968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Қазақстанның жергілікті медиасына арналған алғашқы киберқауіпсіздік жүйесі.
120 KZ-тақырыбы: теңге, Акорда, ҰҚК, eGov, Байқоңыр, Арал т.б.
5 қатер түрі: фишинг, соц. инженерия, мошенничество, пропаганда.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40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231136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572768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Гибридті ML + ережелер архитектурасы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29968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ruBert-base (40%) + 6 ережелер модулі (60%).
Weighted score — тек ML немесе тек ережелерге тәуелді емес.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58768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58768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626864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968496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Екітілді деректер жинағы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25696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45 221 мәтін RU + KZ тілдерінде.
6 аугментация әдісі, 80% мөлшерлемесі, класс теңгерімі сақталған.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858768"/>
            <a:ext cx="5687568" cy="2267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858768"/>
            <a:ext cx="621792" cy="226771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626864"/>
            <a:ext cx="6217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968496"/>
            <a:ext cx="47914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58E"/>
                </a:solidFill>
                <a:latin typeface="Times New Roman"/>
              </a:rPr>
              <a:t>Оңтайландырылған деплой + PostgreSQL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425696"/>
            <a:ext cx="479145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ONNX + INT8 кванттау: 680 МБ → 171 МБ (4× қысу).
PostgreSQL дерекқоры — барлық талдаулар сақталып, іздеу мүмкін.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0040" y="59704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Times New Roman"/>
              </a:rPr>
              <a:t>5  Қатер түрін анықтау — 5 категория: дезинформация, фишинг, соц. инженерия, мошенничество, пропаганда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Аналогтары — Бар жүйелермен салыстыру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92608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508760"/>
            <a:ext cx="2816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Жүйе / Платформа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6976" y="1463040"/>
            <a:ext cx="123444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08760"/>
            <a:ext cx="1124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Тіл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07992" y="1463040"/>
            <a:ext cx="150876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508760"/>
            <a:ext cx="1399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KZ-контекст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1463040"/>
            <a:ext cx="310896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1508760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ML + Ережелер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463040"/>
            <a:ext cx="2148840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508760"/>
            <a:ext cx="2039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Жергілікті деплой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975104"/>
            <a:ext cx="292608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084832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FakeNewsNet (АҚШ)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6976" y="1975104"/>
            <a:ext cx="12344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084832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Ағылшын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7992" y="1975104"/>
            <a:ext cx="15087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2084832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1975104"/>
            <a:ext cx="31089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2084832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(тек ML)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8864" y="1975104"/>
            <a:ext cx="21488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2084832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724912"/>
            <a:ext cx="29260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" y="2834640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RuFake (Ресей)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6976" y="2724912"/>
            <a:ext cx="1234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2834640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Орыс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07992" y="2724912"/>
            <a:ext cx="15087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2834640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3328" y="2724912"/>
            <a:ext cx="31089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08192" y="2834640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(тек ML)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98864" y="2724912"/>
            <a:ext cx="2148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2834640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474720"/>
            <a:ext cx="292608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584448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FEVER (Ұлыбритания)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36976" y="3474720"/>
            <a:ext cx="12344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3584448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Ағылшын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7992" y="3474720"/>
            <a:ext cx="15087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2856" y="3584448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53328" y="3474720"/>
            <a:ext cx="310896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3584448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(фактчек ғана)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3474720"/>
            <a:ext cx="2148840" cy="694944"/>
          </a:xfrm>
          <a:prstGeom prst="rect">
            <a:avLst/>
          </a:prstGeom>
          <a:solidFill>
            <a:srgbClr val="EEF4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3584448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224528"/>
            <a:ext cx="29260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4334256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ClaimBuster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36976" y="4224528"/>
            <a:ext cx="1234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91840" y="4334256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Ағылшын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07992" y="4224528"/>
            <a:ext cx="15087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62856" y="4334256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53328" y="4224528"/>
            <a:ext cx="310896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08192" y="4334256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✗  (тек API)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98864" y="4224528"/>
            <a:ext cx="21488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53728" y="4334256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392B"/>
                </a:solidFill>
                <a:latin typeface="Times New Roman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4974336"/>
            <a:ext cx="292608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5084064"/>
            <a:ext cx="28163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Ұсынылған жүйе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36976" y="4974336"/>
            <a:ext cx="123444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0" y="5084064"/>
            <a:ext cx="1124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RU + KZ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07992" y="4974336"/>
            <a:ext cx="150876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62856" y="5084064"/>
            <a:ext cx="13990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53328" y="4974336"/>
            <a:ext cx="310896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08192" y="5084064"/>
            <a:ext cx="299923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✓  ML 40% + ережелер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98864" y="4974336"/>
            <a:ext cx="2148840" cy="694944"/>
          </a:xfrm>
          <a:prstGeom prst="rect">
            <a:avLst/>
          </a:prstGeom>
          <a:solidFill>
            <a:srgbClr val="00358E"/>
          </a:solidFill>
          <a:ln w="9525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53728" y="5084064"/>
            <a:ext cx="20391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5943600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★  Ұсынылған жүйе KZ-контексімен, екітілді қолдауымен, 5 қатер түрімен және гибридті архитектурасымен аналогтардан ерекшеленеді.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Жүйе архитектурасы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084831" cy="7132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① Кіріс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Мәтін /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3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19" y="1463040"/>
            <a:ext cx="2084831" cy="71323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19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②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19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ruBert-base
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2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18" y="1463040"/>
            <a:ext cx="2084831" cy="71323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18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③ Ережелер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18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6 модуль
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1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17" y="1463040"/>
            <a:ext cx="2084831" cy="7132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7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④ Скор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17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Weighted
40/60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0" y="157276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16" y="1463040"/>
            <a:ext cx="2084831" cy="7132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6" y="1499616"/>
            <a:ext cx="20848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⑤ Нәтиже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6" y="181051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Times New Roman"/>
              </a:rPr>
              <a:t>Есеп +
PostgreSQL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359152"/>
            <a:ext cx="548640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359152"/>
            <a:ext cx="5486400" cy="402336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2395728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ML-модель — 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2834640"/>
            <a:ext cx="5248656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ai-forever/ruBert-base (178М параметр)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KZ деректерінде fine-tuned (4 эпоха, T4 GPU)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ONNX экспорт → INT8 кванттау (4× қысу)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Инференс медианасы: ~550 мс (CPUExecutionProvider)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MAX_SEQ_LENGTH = 256 токен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2359152"/>
            <a:ext cx="5925312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2359152"/>
            <a:ext cx="5925312" cy="402336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2395728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Ережелер жүйесі — 60%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2834640"/>
            <a:ext cx="5687568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Кликбейт — 28 үлгі (RU + KZ)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Лингвистика — эмоциялық лексика (4 категория)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Дереккөз беделі — 36 домен рейтингі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Құрылым — ұзындық, сан деректері тексеру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Фактчек — Google Custom Search API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Фишинг — 42 үлгі (RU + KZ)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▸  Қатер түрін анықтау (5 категория)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Деректер жиыны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761488" cy="1170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45 221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жалпы мәтін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463040"/>
            <a:ext cx="2761488" cy="117043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~35 000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нақты жаңалық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63040"/>
            <a:ext cx="2761488" cy="117043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~11 400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синтетикалық
дезинфо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463040"/>
            <a:ext cx="2761488" cy="1170432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17904"/>
            <a:ext cx="2761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</a:rPr>
              <a:t>~10 000+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139696"/>
            <a:ext cx="27614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аугментация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34640"/>
            <a:ext cx="5486400" cy="3163824"/>
          </a:xfrm>
          <a:prstGeom prst="rect">
            <a:avLst/>
          </a:prstGeom>
          <a:solidFill>
            <a:srgbClr val="FFFFFF"/>
          </a:solidFill>
          <a:ln w="1524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834640"/>
            <a:ext cx="5486400" cy="384048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71216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Деректер бөлінісі (Стратифицирленген)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328416"/>
            <a:ext cx="5376672" cy="603504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" y="341985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E"/>
                </a:solidFill>
                <a:latin typeface="Times New Roman"/>
              </a:rPr>
              <a:t>Train: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419856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>31 654 мәтін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419856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358E"/>
                </a:solidFill>
                <a:latin typeface="Times New Roman"/>
              </a:rPr>
              <a:t>70%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86784"/>
            <a:ext cx="537667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07822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E"/>
                </a:solidFill>
                <a:latin typeface="Times New Roman"/>
              </a:rPr>
              <a:t>Validation: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078224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 xml:space="preserve"> 6 783 мәтін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078224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358E"/>
                </a:solidFill>
                <a:latin typeface="Times New Roman"/>
              </a:rPr>
              <a:t>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645152"/>
            <a:ext cx="5376672" cy="603504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47365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58E"/>
                </a:solidFill>
                <a:latin typeface="Times New Roman"/>
              </a:rPr>
              <a:t>Test: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73659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Times New Roman"/>
              </a:rPr>
              <a:t xml:space="preserve"> 6 784 мәтін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73659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358E"/>
                </a:solidFill>
                <a:latin typeface="Times New Roman"/>
              </a:rPr>
              <a:t>15%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559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E"/>
                </a:solidFill>
                <a:latin typeface="Times New Roman"/>
              </a:rPr>
              <a:t>Класс теңгерімі сақталған 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834640"/>
            <a:ext cx="5925312" cy="3163824"/>
          </a:xfrm>
          <a:prstGeom prst="rect">
            <a:avLst/>
          </a:prstGeom>
          <a:solidFill>
            <a:srgbClr val="FFFFFF"/>
          </a:solidFill>
          <a:ln w="1524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2834640"/>
            <a:ext cx="5925312" cy="384048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71216"/>
            <a:ext cx="5742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Дереккөздер және KZ тақырыптары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3310128"/>
            <a:ext cx="5687568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Нақты жаңалық: gazeta.ru · lenta.ru · ria.ru · mlsum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KZ тақырыптары: 120 (теңге, Акорда, ҰҚК, eGov, Байқоңыр...)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RU дезинфо: 120 × 65 үлгі = 7 800 мәтін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KZ дезинфо: 120 × 30 үлгі = 3 600 мәтін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RU сенімді: 120 × 25 = 3 000 · KZ: 120 × 15 = 1 800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1A1A1A"/>
                </a:solidFill>
                <a:latin typeface="Times New Roman"/>
              </a:rPr>
              <a:t>▸  Аугментация: 6 әдіс, 80% мөлшерлеме (~10 000+)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Модельді оқыту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5486400" cy="402336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9961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Гиперпараметрлер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56816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1168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Модель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2011680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ai-forever/ruBert-base (178М)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32304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487168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Эпохалар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2487168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4  (early stopping + best checkpoint)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07792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296265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Learning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296265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2e-5  |  AdamW optimizer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83280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438144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Batch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1" y="3438144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16 × grad_accum 2 = эффективті 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58768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91363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MAX_LENGTH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1" y="3913632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256 токен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34256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4389120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Warmup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1" y="4389120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10%  |  Weight decay: 0.01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864608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Платформа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4831" y="4864608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Google Colab T4 GPU (16 ГБ)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285232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5340096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Оқыту уақыты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84831" y="534009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~70 минут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1463040"/>
            <a:ext cx="592531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1463040"/>
            <a:ext cx="5925312" cy="402336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149961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Экспорт жолы (Модель оңтайландыру)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029968"/>
            <a:ext cx="1261872" cy="1024128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2084832"/>
            <a:ext cx="1261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PyTorch
.bin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59689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680 МБ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1" y="2212848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imes New Roman"/>
              </a:rPr>
              <a:t>Базалық модель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2633472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Өлшемі: 680 МБ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07238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328416"/>
            <a:ext cx="1261872" cy="1024128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3383280"/>
            <a:ext cx="1261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ONNX
.onnx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89534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680 МБ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3511296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imes New Roman"/>
              </a:rPr>
              <a:t>Кросс-платформа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1" y="393192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Өлшемі: 680 МБ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43708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358E"/>
                </a:solidFill>
                <a:latin typeface="Times New Roman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626864"/>
            <a:ext cx="1261872" cy="102412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4681728"/>
            <a:ext cx="12618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INT8
.onnx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519379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Times New Roman"/>
              </a:rPr>
              <a:t>171 МБ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71231" y="4809744"/>
            <a:ext cx="4206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Times New Roman"/>
              </a:rPr>
              <a:t>4× қысу (optimum)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1" y="523036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Өлшемі: 171 МБ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5815584"/>
            <a:ext cx="56509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E"/>
                </a:solidFill>
                <a:latin typeface="Times New Roman"/>
              </a:rPr>
              <a:t>Нәтиже: CPU-да жергілікті деплой, GPU талап етілмейді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Модель нәтижелері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761488" cy="126187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F1-скор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463040"/>
            <a:ext cx="2761488" cy="1261872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99.9%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63040"/>
            <a:ext cx="2761488" cy="1261872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Precision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463040"/>
            <a:ext cx="2761488" cy="126187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517904"/>
            <a:ext cx="276148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imes New Roman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231136"/>
            <a:ext cx="2761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imes New Roman"/>
              </a:rPr>
              <a:t>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07792"/>
            <a:ext cx="5486400" cy="307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907792"/>
            <a:ext cx="5486400" cy="384048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944368"/>
            <a:ext cx="5321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Confusion Matrix — Тест жиынтығы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01568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465576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Тест жиыны: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4655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6 784 мәтін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877056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94106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Дұрыс жіктелген: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394106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6 778 / 6 784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352544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441655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Қате жіктелген: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4416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Times New Roman"/>
              </a:rPr>
              <a:t>тек 6 мәтін (0.09%)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28032"/>
            <a:ext cx="53766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892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Нақты → нақты: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48920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E"/>
                </a:solidFill>
                <a:latin typeface="Times New Roman"/>
              </a:rPr>
              <a:t>Дұрыс анықталды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303520"/>
            <a:ext cx="53766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536752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Дезинфо → дезинфо: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5367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E"/>
                </a:solidFill>
                <a:latin typeface="Times New Roman"/>
              </a:rPr>
              <a:t>Дұрыс анықталды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907792"/>
            <a:ext cx="5925312" cy="3072384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89320" y="2907792"/>
            <a:ext cx="5925312" cy="384048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2944368"/>
            <a:ext cx="57424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Times New Roman"/>
              </a:rPr>
              <a:t>Инференс жылдамдығы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401568"/>
            <a:ext cx="58338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465576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Медиана: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465576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~550 мс  (CPU)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877056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3941064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P95: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3941064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~620 мс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352544"/>
            <a:ext cx="58338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8192" y="441655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Модель: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416552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INT8 кванттау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82803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08192" y="489204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Провайдер: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489204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Times New Roman"/>
              </a:rPr>
              <a:t>CPUExecutionProvider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303520"/>
            <a:ext cx="5833872" cy="45720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08192" y="536752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58E"/>
                </a:solidFill>
                <a:latin typeface="Times New Roman"/>
              </a:rPr>
              <a:t>GPU болса: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5367528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E"/>
                </a:solidFill>
                <a:latin typeface="Times New Roman"/>
              </a:rPr>
              <a:t>&lt; 100 мс мүмкін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5943600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8"/>
                </a:solidFill>
                <a:latin typeface="Times New Roman"/>
              </a:rPr>
              <a:t>★  Синтетикалық тест жиынтығында іс жүзінде мінсіз нәтиже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Веб-қосымша интерфейсі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3822191" cy="2322576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591056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📝 Мәтін / URL талдау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066544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Мәтінді немесе мақала сілтемесін енгізіп,
дереу талдаудан өткізу мүмкіндігі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822191" cy="2322576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1" y="1591056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📊 Толық есеп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066544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ML-скор + 6 ереже модулінің нәтижесі
+ анықталған белгілер тізімі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463040"/>
            <a:ext cx="3822191" cy="2322576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0" y="1591056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📚 12 мысал (3 қойынды: Дезинф / Фишинг / URL)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0" y="2066544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RU + KZ тілдерінде фейк және нақты
жаңалық үлгілері — тест үшін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13632"/>
            <a:ext cx="3822191" cy="2322576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041648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🗄️ PostgreSQL дерекқор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517136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Барлық талдаулар сақталады, тарихты
қарауға және іздеуге болады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3913632"/>
            <a:ext cx="3822191" cy="2322576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1" y="4041648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🌐 36 домен рейтингі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1" y="4517136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KZ медиа + халықаралық + үгіт-насихат
сайттарының сенімділік рейтингі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3913632"/>
            <a:ext cx="3822191" cy="2322576"/>
          </a:xfrm>
          <a:prstGeom prst="rect">
            <a:avLst/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0" y="4041648"/>
            <a:ext cx="3493007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imes New Roman"/>
              </a:rPr>
              <a:t>🎨 Dark UI / Адаптивті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0" y="4517136"/>
            <a:ext cx="3493007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Times New Roman"/>
              </a:rPr>
              <a:t>FastAPI + HTMX + адаптивті интерфейс,
барлық экран өлшемінде жұмыс істейді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20040" y="59704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358E"/>
                </a:solidFill>
                <a:latin typeface="Times New Roman"/>
              </a:rPr>
              <a:t>🛡️ 5 қатер түрі  ·  🔐 42 фишинг үлгісі  ·  🌐 URL қауіпсіздік талдауы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Технологиялар стегі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3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2761488" cy="45720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Бэкенд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Python 3.12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FastAPI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Uvicorn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PostgreSQL + asyncpg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HTMX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63824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1E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63824" y="1463040"/>
            <a:ext cx="2761488" cy="457200"/>
          </a:xfrm>
          <a:prstGeom prst="rect">
            <a:avLst/>
          </a:prstGeom>
          <a:solidFill>
            <a:srgbClr val="1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6976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ML / Инференс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HuggingFace Transformers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ONNX Runtime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Optimum (INT8)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PyTorch (оқыту)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154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3328" y="1463040"/>
            <a:ext cx="2761488" cy="457200"/>
          </a:xfrm>
          <a:prstGeom prst="rect">
            <a:avLst/>
          </a:prstGeom>
          <a:solidFill>
            <a:srgbClr val="15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Оқыту орны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Google Colab T4 GPU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Google Drive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Datasets (HF)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scikit-learn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2832" y="1463040"/>
            <a:ext cx="2761488" cy="4626864"/>
          </a:xfrm>
          <a:prstGeom prst="rect">
            <a:avLst/>
          </a:prstGeom>
          <a:solidFill>
            <a:srgbClr val="FFFFFF"/>
          </a:solidFill>
          <a:ln w="25400">
            <a:solidFill>
              <a:srgbClr val="0D3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1463040"/>
            <a:ext cx="2761488" cy="457200"/>
          </a:xfrm>
          <a:prstGeom prst="rect">
            <a:avLst/>
          </a:prstGeom>
          <a:solidFill>
            <a:srgbClr val="0D3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5984" y="149961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Деректер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029968"/>
            <a:ext cx="25054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36 KZ/RU домен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120 KZ тақырыбы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6 аугментация әдісі</a:t>
            </a:r>
          </a:p>
          <a:p>
            <a:pPr>
              <a:spcBef>
                <a:spcPts val="900"/>
              </a:spcBef>
            </a:pPr>
            <a:r>
              <a:rPr sz="1350">
                <a:solidFill>
                  <a:srgbClr val="1A1A1A"/>
                </a:solidFill>
                <a:latin typeface="Times New Roman"/>
              </a:rPr>
              <a:t>◆  45 221 мәтін</a:t>
            </a:r>
          </a:p>
          <a:p>
            <a:pPr>
              <a:spcBef>
                <a:spcPts val="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◆  42 фишинг үлгісі</a:t>
            </a:r>
          </a:p>
          <a:p>
            <a:pPr>
              <a:spcBef>
                <a:spcPts val="0"/>
              </a:spcBef>
            </a:pPr>
            <a:r>
              <a:rPr sz="1300">
                <a:solidFill>
                  <a:srgbClr val="1A1A1A"/>
                </a:solidFill>
                <a:latin typeface="Times New Roman"/>
              </a:rPr>
              <a:t>◆  5 қатер категориясы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Шектеулер және болашақ жоспарлар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5486400" cy="4626864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5486400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99616"/>
            <a:ext cx="5321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⚠  Ағымдағы шектеулер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993392"/>
            <a:ext cx="5248656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Тек RU + KZ — ағылшын тілі жоқ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Синтетикалық деректер — нақты KZ жаңалықтары аз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CPU инференс ~550 мс — реалтайм үшін баяу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Қысқа мәтін (&lt;30 сөз) — сенімділік төмен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C0392B"/>
                </a:solidFill>
                <a:latin typeface="Times New Roman"/>
              </a:rPr>
              <a:t>✗  GPT генерацияланған мәтін анықтауы жоқ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463040"/>
            <a:ext cx="5925312" cy="46268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463040"/>
            <a:ext cx="5925312" cy="42062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49961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✓  Болашақ жоспарлар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993392"/>
            <a:ext cx="5650992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Нақты KZ жаңалықтарымен қайта оқыту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XLM-RoBERTa — көптілді модель (EN қосу)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GPU деплой — инференсті &lt;100 мс жылдамдату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БАҚ және фактчек ұйымдары үшін REST API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1B873E"/>
                </a:solidFill>
                <a:latin typeface="Times New Roman"/>
              </a:rPr>
              <a:t>→  Браузер плагині — тікелей тексеру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F6F1F"/>
                </a:solidFill>
                <a:latin typeface="Times New Roman"/>
              </a:rPr>
              <a:t>→  GPT-generated content анықтау (GLTR тәсілі)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F6F1F"/>
                </a:solidFill>
                <a:latin typeface="Times New Roman"/>
              </a:rPr>
              <a:t>→  SMS фишингін тексеру үшін телекомпанияларға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188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1645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578"/>
                </a:solidFill>
                <a:latin typeface="Times New Roman"/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0"/>
            <a:ext cx="12188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1640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80467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358E"/>
                </a:solidFill>
                <a:latin typeface="Times New Roman"/>
              </a:rPr>
              <a:t>Қорытынды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35024"/>
            <a:ext cx="11521440" cy="2743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Conclusions"/>
          <p:cNvSpPr txBox="1"/>
          <p:nvPr/>
        </p:nvSpPr>
        <p:spPr>
          <a:xfrm>
            <a:off x="320040" y="1430000"/>
            <a:ext cx="1152144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Гибридті киберқауіпсіздік жүйесі CyberShield KZ табысты іске асырылды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ML (ruBert-base, 40%) және алты ережелер модулін (60%) біріктіретін weighted scoring архитектурасы жасалды.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Қазақстанға арнайы екітілді деректер жиыны дайындалды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120 KZ-тақырыбын (Акорда, теңге, ҰҚК, Байқоңыр т.б.) қамтитын орыс және қазақ тілдерінде нақты мәтіндер жинақталды.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Модель жоғары дәлдікпен оқытылды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ruBert-base KZ деректерінде баптауден өтіп, тест жиынтығында іс жүзінде мінсіз жіктеу нәтижесін көрсетті.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Модель жергілікті деплойға оңтайландырылды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ONNX экспорты және INT8 кванттау арқылы модель төрт есе кішірейтіліп, GPU-сыз CPU-да жұмыс жасайтын болды.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Толық функционалды веб-қосымша жасалды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FastAPI + PostgreSQL негізінде мәтін мен URL талдайтын, барлық нәтижелерді сақтайтын және іздеуге мүмкіндік беретін жүйе іске асырылды.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Жүйе Қазақстан медиакеңістігі үшін нақты қолданбалы мән береді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бұл Қазақстанның жергілікті тақырыптарын, медиа дереккөздерін және екітілді ортасын ескеретін алғашқы арнайы киберқауіпсіздік жүйесі.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Фишинг пен әлеуметтік инженерияны анықтайтын жаңа модуль іске асырылды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RU+KZ тілдерінде 42 үлгімен.</a:t>
            </a:r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Char char="✔"/>
            </a:pPr>
            <a:r>
              <a:rPr sz="1400" b="1" i="0" lang="ru-RU">
                <a:solidFill>
                  <a:srgbClr val="00358E"/>
                </a:solidFill>
                <a:latin typeface="Times New Roman"/>
              </a:rPr>
              <a:t xml:space="preserve">5 қатер категориясы анықталады — </a:t>
            </a:r>
            <a:r>
              <a:rPr sz="1400" b="0" i="0" lang="ru-RU">
                <a:solidFill>
                  <a:srgbClr val="1A1A1A"/>
                </a:solidFill>
                <a:latin typeface="Times New Roman"/>
              </a:rPr>
              <a:t>дезинформация, фишинг, соц. инженерия, мошенничество, пропаганда.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55664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8"/>
                </a:solidFill>
                <a:latin typeface="Times New Roman"/>
              </a:rPr>
              <a:t>CyberShield KZ  ·  ruBert-base  ·  FastAPI  ·  ONNX  ·  INT8  ·  PostgreSQL  ·  KZ+RU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fara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"/>
            <a:ext cx="877824" cy="877824"/>
          </a:xfrm>
          <a:prstGeom prst="rect">
            <a:avLst/>
          </a:prstGeom>
        </p:spPr>
      </p:pic>
      <p:pic>
        <p:nvPicPr>
          <p:cNvPr id="6" name="Picture 5" descr="logo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928" y="109728"/>
            <a:ext cx="877824" cy="877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"/>
            <a:ext cx="9354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Times New Roman"/>
              </a:rPr>
              <a:t>Әл-Фараби атындағы Қазақ ұлттық университеті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75488"/>
            <a:ext cx="9354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Times New Roman"/>
              </a:rPr>
              <a:t>Ақпараттық технологиялар факультеті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7616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358E"/>
                </a:solidFill>
                <a:latin typeface="Times New Roman"/>
              </a:rPr>
              <a:t>Назарларыңызға рахмет!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395728"/>
            <a:ext cx="7616952" cy="27432"/>
          </a:xfrm>
          <a:prstGeom prst="rect">
            <a:avLst/>
          </a:prstGeom>
          <a:solidFill>
            <a:srgbClr val="0035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56578"/>
                </a:solidFill>
                <a:latin typeface="Times New Roman"/>
              </a:rPr>
              <a:t>Сұрақтарыңызға жауап беруге дайынмын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Тақырып: CyberShield KZ — Ережелер мен ML негізіндегі дезинформацияны, фишингті және әлеуметтік инженерияны анықтайтын киберқауіпсіздік веб-жүйесін әзірлеу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Ғылыми жетекші: Нарбаева С.М.  |  Алматы, 2026 ж.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Times New Roman"/>
              </a:rPr>
              <a:t>Стек: CyberShield KZ · ruBert-base · FastAPI · ONNX · INT8 · PostgreSQL · KZ+RU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