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41854-5243-400B-ACC3-DD9850970B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30BF5C-CF4F-4C61-9D52-C0F91424A4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CBC168F-CE59-4994-8DE2-8CA1F52164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26D4C3F-6754-4BAE-B7BB-A7832A03C7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DC524C5-29C3-4605-9B41-55C96E1445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D1F55F1-5A8F-49BE-967E-12A46E3DBB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E0D93B0-0030-40F4-9588-66FE1D79C1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676CBDC-120E-4B90-8E1D-58B1E0238E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A1CCEB5-8A12-446B-90D3-CDA5451FC5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9896759-FF34-444C-BAE8-28D6ECCE6B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442EFEB-6C12-40FC-890A-01694BBB45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0FF3C1-B2CF-43B4-9AD2-17B3AE5EBC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40F611-A88C-4EDC-8C1C-CD21B9A807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28741CD-CCA5-4387-A6CE-A6F7CDD145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70221C-046D-49FA-8123-FF3DCF8439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Master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CECCE1-BB05-47A4-931E-D76BDCBF55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DA8A5A-FEB7-4A0C-B464-6AE1721996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0D9FA-DAB1-467D-8738-CC5E2210DC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E03838-7C8C-4022-AFA0-DB2A86BAB1F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1C3AC0-BD5A-4D84-847F-2F837FE042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383223-8D63-461C-9EE9-CE22C5BAFF4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F3F2EE-FEEC-453B-8A37-8AE9C01E58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88520" cy="45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" name="Picture 2" descr="logo_farabi.jpg"/>
          <p:cNvPicPr/>
          <p:nvPr/>
        </p:nvPicPr>
        <p:blipFill>
          <a:blip r:embed="rId1"/>
          <a:stretch/>
        </p:blipFill>
        <p:spPr>
          <a:xfrm>
            <a:off x="320040" y="164520"/>
            <a:ext cx="1096920" cy="109692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3" descr="logo_fit.png"/>
          <p:cNvPicPr/>
          <p:nvPr/>
        </p:nvPicPr>
        <p:blipFill>
          <a:blip r:embed="rId2"/>
          <a:stretch/>
        </p:blipFill>
        <p:spPr>
          <a:xfrm>
            <a:off x="10771560" y="164520"/>
            <a:ext cx="1096920" cy="1096920"/>
          </a:xfrm>
          <a:prstGeom prst="rect">
            <a:avLst/>
          </a:prstGeom>
          <a:ln w="0">
            <a:noFill/>
          </a:ln>
        </p:spPr>
      </p:pic>
      <p:sp>
        <p:nvSpPr>
          <p:cNvPr id="70" name="TextBox 4"/>
          <p:cNvSpPr/>
          <p:nvPr/>
        </p:nvSpPr>
        <p:spPr>
          <a:xfrm>
            <a:off x="1554480" y="164520"/>
            <a:ext cx="907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554480" y="511920"/>
            <a:ext cx="9079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554480" y="859680"/>
            <a:ext cx="9079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Times New Roman"/>
              </a:rPr>
              <a:t>Киберқауіпсіздік және криптология кафедрасы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ectangle 7"/>
          <p:cNvSpPr/>
          <p:nvPr/>
        </p:nvSpPr>
        <p:spPr>
          <a:xfrm>
            <a:off x="914400" y="1417320"/>
            <a:ext cx="10359720" cy="226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731520" y="1600200"/>
            <a:ext cx="10725480" cy="13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Ережелер мен маңызды белгілерге негізделген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әлеуметтік желілердегі жалған ақпаратты анықтау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Times New Roman"/>
              </a:rPr>
              <a:t>және сүзу үшін веб-жүйені әзірлеу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9"/>
          <p:cNvSpPr/>
          <p:nvPr/>
        </p:nvSpPr>
        <p:spPr>
          <a:xfrm>
            <a:off x="914400" y="3977640"/>
            <a:ext cx="10359720" cy="2268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1960" bIns="-219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400800" y="4206240"/>
            <a:ext cx="2011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</a:rPr>
              <a:t>Орындаған: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8503920" y="420624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</a:rPr>
              <a:t>Ясын Ринат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400800" y="4773240"/>
            <a:ext cx="20113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</a:rPr>
              <a:t>Ғылыми жетекші: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8503920" y="4773240"/>
            <a:ext cx="34743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Times New Roman"/>
              </a:rPr>
              <a:t>Нарбаева С.М.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457200" y="6236280"/>
            <a:ext cx="11274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Алматы, 2026 ж.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0" y="6812280"/>
            <a:ext cx="12188520" cy="45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3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84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2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Дипломдық жұмыстың мақсаты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320040" y="1444680"/>
            <a:ext cx="11548440" cy="87732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502920" y="1499760"/>
            <a:ext cx="112010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358e"/>
                </a:solidFill>
                <a:latin typeface="Times New Roman"/>
              </a:rPr>
              <a:t>Негізгі мақсат: Ережелер мен маңызды белгілерге негізделген гибридті жүйе жасау арқылы әлеуметтік желілердегі жалған ақпаратты автоматты анықтау және сүзу.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3"/>
          <p:cNvSpPr/>
          <p:nvPr/>
        </p:nvSpPr>
        <p:spPr>
          <a:xfrm>
            <a:off x="365760" y="2468880"/>
            <a:ext cx="5303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358e"/>
                </a:solidFill>
                <a:latin typeface="Times New Roman"/>
              </a:rPr>
              <a:t>Міндеттер: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4"/>
          <p:cNvSpPr/>
          <p:nvPr/>
        </p:nvSpPr>
        <p:spPr>
          <a:xfrm>
            <a:off x="365760" y="2834640"/>
            <a:ext cx="6857640" cy="16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ML + ереже гибридті архитектурасын жобалау (60% / 40%)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Орыс және қазақ тілдерінде 45 000+ мәтін деректер жиынын дайындау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ruBert-base моделін KZ деректерінде баптау (fine-tune)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ONNX + INT8 кванттау арқылы жергілікті деплойға оңтайландыру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FastAPI + PostgreSQL негізіндегі веб-қосымшаны іске асыру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•  </a:t>
            </a: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Жүйенің тиімділігін тестілеу (F1, Accuracy, Precision, Recall)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15"/>
          <p:cNvSpPr/>
          <p:nvPr/>
        </p:nvSpPr>
        <p:spPr>
          <a:xfrm>
            <a:off x="7589520" y="2432160"/>
            <a:ext cx="4297320" cy="33462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7726680" y="2523600"/>
            <a:ext cx="4041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Күтілетін нәтиже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7"/>
          <p:cNvSpPr/>
          <p:nvPr/>
        </p:nvSpPr>
        <p:spPr>
          <a:xfrm>
            <a:off x="7726680" y="2944440"/>
            <a:ext cx="3977280" cy="16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F1 ≥ 90% дәлдік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RU + KZ екітілді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&lt; 600 мс инференс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36 домен беделі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28 кликбейт үлгісі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PostgreSQL дерекқор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0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1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3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Тақырыптың өзектілігі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11"/>
          <p:cNvSpPr/>
          <p:nvPr/>
        </p:nvSpPr>
        <p:spPr>
          <a:xfrm>
            <a:off x="320040" y="1481400"/>
            <a:ext cx="5595840" cy="2175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502920" y="1591200"/>
            <a:ext cx="523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</a:rPr>
              <a:t>Дезинформация ағынының өсуі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502920" y="2030040"/>
            <a:ext cx="5230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Қазақстан медиакеңістігіндегі жалған ақпарат жыл сайын өсуде. Әлеуметтік желілерде 40%-ға артып отыр.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14"/>
          <p:cNvSpPr/>
          <p:nvPr/>
        </p:nvSpPr>
        <p:spPr>
          <a:xfrm>
            <a:off x="6144840" y="1481400"/>
            <a:ext cx="5595840" cy="217584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6327720" y="1591200"/>
            <a:ext cx="523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</a:rPr>
              <a:t>Екітілді ортаның күрделілігі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6327720" y="2030040"/>
            <a:ext cx="5230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Қазақ және орыс тілдерінде жұмыс жасайтын қоғамға арналған автоматтандырылған талдау айтарлықтай қиын.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7"/>
          <p:cNvSpPr/>
          <p:nvPr/>
        </p:nvSpPr>
        <p:spPr>
          <a:xfrm>
            <a:off x="320040" y="3877200"/>
            <a:ext cx="5595840" cy="217584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6" name="TextBox 18"/>
          <p:cNvSpPr/>
          <p:nvPr/>
        </p:nvSpPr>
        <p:spPr>
          <a:xfrm>
            <a:off x="502920" y="3986640"/>
            <a:ext cx="523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</a:rPr>
              <a:t>KZ-контекстік құрал жоқ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9"/>
          <p:cNvSpPr/>
          <p:nvPr/>
        </p:nvSpPr>
        <p:spPr>
          <a:xfrm>
            <a:off x="502920" y="4425840"/>
            <a:ext cx="5230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Қазақстанның жергілікті медиа, мекемелер мен тақырыптарына арнайы дезинформация анықтау жүйесі жоқ.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20"/>
          <p:cNvSpPr/>
          <p:nvPr/>
        </p:nvSpPr>
        <p:spPr>
          <a:xfrm>
            <a:off x="6144840" y="3877200"/>
            <a:ext cx="5595840" cy="2175840"/>
          </a:xfrm>
          <a:prstGeom prst="rect">
            <a:avLst/>
          </a:prstGeom>
          <a:solidFill>
            <a:srgbClr val="0d3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1"/>
          <p:cNvSpPr/>
          <p:nvPr/>
        </p:nvSpPr>
        <p:spPr>
          <a:xfrm>
            <a:off x="6327720" y="3986640"/>
            <a:ext cx="52300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Times New Roman"/>
              </a:rPr>
              <a:t>Қоғамдық зиян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22"/>
          <p:cNvSpPr/>
          <p:nvPr/>
        </p:nvSpPr>
        <p:spPr>
          <a:xfrm>
            <a:off x="6327720" y="4425840"/>
            <a:ext cx="523008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Жалған ақпарат саяси, экономикалық зиян тигізеді: паника, наразылық, қаржылық алаяқтық.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2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4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Дипломдық жұмыстың жаңалығы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Rectangle 11"/>
          <p:cNvSpPr/>
          <p:nvPr/>
        </p:nvSpPr>
        <p:spPr>
          <a:xfrm>
            <a:off x="320040" y="1463040"/>
            <a:ext cx="5687280" cy="226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12"/>
          <p:cNvSpPr/>
          <p:nvPr/>
        </p:nvSpPr>
        <p:spPr>
          <a:xfrm>
            <a:off x="320040" y="1463040"/>
            <a:ext cx="621360" cy="226728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3"/>
          <p:cNvSpPr/>
          <p:nvPr/>
        </p:nvSpPr>
        <p:spPr>
          <a:xfrm>
            <a:off x="320040" y="2231280"/>
            <a:ext cx="62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4"/>
          <p:cNvSpPr/>
          <p:nvPr/>
        </p:nvSpPr>
        <p:spPr>
          <a:xfrm>
            <a:off x="1051560" y="1572840"/>
            <a:ext cx="4791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358e"/>
                </a:solidFill>
                <a:latin typeface="Times New Roman"/>
              </a:rPr>
              <a:t>Алғашқы KZ-контекстік жүйе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5"/>
          <p:cNvSpPr/>
          <p:nvPr/>
        </p:nvSpPr>
        <p:spPr>
          <a:xfrm>
            <a:off x="1051560" y="2030040"/>
            <a:ext cx="47912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Қазақстанның жергілікті медиасына арналған алғашқы дезинформация жүйесі.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120 KZ-тақырыбы: теңге, Акорда, ҰҚК, eGov, Байқоңыр, Арал т.б.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16"/>
          <p:cNvSpPr/>
          <p:nvPr/>
        </p:nvSpPr>
        <p:spPr>
          <a:xfrm>
            <a:off x="6263640" y="1463040"/>
            <a:ext cx="5687280" cy="226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17"/>
          <p:cNvSpPr/>
          <p:nvPr/>
        </p:nvSpPr>
        <p:spPr>
          <a:xfrm>
            <a:off x="6263640" y="1463040"/>
            <a:ext cx="621360" cy="226728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8"/>
          <p:cNvSpPr/>
          <p:nvPr/>
        </p:nvSpPr>
        <p:spPr>
          <a:xfrm>
            <a:off x="6263640" y="2231280"/>
            <a:ext cx="62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9"/>
          <p:cNvSpPr/>
          <p:nvPr/>
        </p:nvSpPr>
        <p:spPr>
          <a:xfrm>
            <a:off x="6995160" y="1572840"/>
            <a:ext cx="4791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358e"/>
                </a:solidFill>
                <a:latin typeface="Times New Roman"/>
              </a:rPr>
              <a:t>Гибридті ML + ережелер архитектурасы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20"/>
          <p:cNvSpPr/>
          <p:nvPr/>
        </p:nvSpPr>
        <p:spPr>
          <a:xfrm>
            <a:off x="6995160" y="2030040"/>
            <a:ext cx="47912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ruBert-base (60%) + 5 ережелер модулі (40%).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Weighted score — тек ML немесе тек ережелерге тәуелді емес.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21"/>
          <p:cNvSpPr/>
          <p:nvPr/>
        </p:nvSpPr>
        <p:spPr>
          <a:xfrm>
            <a:off x="320040" y="3858840"/>
            <a:ext cx="5687280" cy="226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22"/>
          <p:cNvSpPr/>
          <p:nvPr/>
        </p:nvSpPr>
        <p:spPr>
          <a:xfrm>
            <a:off x="320040" y="3858840"/>
            <a:ext cx="621360" cy="226728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23"/>
          <p:cNvSpPr/>
          <p:nvPr/>
        </p:nvSpPr>
        <p:spPr>
          <a:xfrm>
            <a:off x="320040" y="4626720"/>
            <a:ext cx="62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24"/>
          <p:cNvSpPr/>
          <p:nvPr/>
        </p:nvSpPr>
        <p:spPr>
          <a:xfrm>
            <a:off x="1051560" y="3968640"/>
            <a:ext cx="4791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358e"/>
                </a:solidFill>
                <a:latin typeface="Times New Roman"/>
              </a:rPr>
              <a:t>Екітілді деректер жинағы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5"/>
          <p:cNvSpPr/>
          <p:nvPr/>
        </p:nvSpPr>
        <p:spPr>
          <a:xfrm>
            <a:off x="1051560" y="4425840"/>
            <a:ext cx="4791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45 221 мәтін RU + KZ тілдерінде.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6 аугментация әдісі, 80% мөлшерлемесі, класс теңгерімі сақталған.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 26"/>
          <p:cNvSpPr/>
          <p:nvPr/>
        </p:nvSpPr>
        <p:spPr>
          <a:xfrm>
            <a:off x="6263640" y="3858840"/>
            <a:ext cx="5687280" cy="226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tangle 27"/>
          <p:cNvSpPr/>
          <p:nvPr/>
        </p:nvSpPr>
        <p:spPr>
          <a:xfrm>
            <a:off x="6263640" y="3858840"/>
            <a:ext cx="621360" cy="226728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8"/>
          <p:cNvSpPr/>
          <p:nvPr/>
        </p:nvSpPr>
        <p:spPr>
          <a:xfrm>
            <a:off x="6263640" y="4626720"/>
            <a:ext cx="621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Times New Roman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9"/>
          <p:cNvSpPr/>
          <p:nvPr/>
        </p:nvSpPr>
        <p:spPr>
          <a:xfrm>
            <a:off x="6995160" y="3968640"/>
            <a:ext cx="47912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00358e"/>
                </a:solidFill>
                <a:latin typeface="Times New Roman"/>
              </a:rPr>
              <a:t>Оңтайландырылған деплой + PostgreSQL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0"/>
          <p:cNvSpPr/>
          <p:nvPr/>
        </p:nvSpPr>
        <p:spPr>
          <a:xfrm>
            <a:off x="6995160" y="4425840"/>
            <a:ext cx="479124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ONNX + INT8 кванттау: 680 МБ → 171 МБ (4× қысу).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PostgreSQL дерекқоры — барлық талдаулар сақталып, іздеу мүмкін.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2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53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5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Аналогтары — Бар жүйелермен салыстыру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274320" y="1463040"/>
            <a:ext cx="292572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329040" y="1508760"/>
            <a:ext cx="2815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Жүйе / Платформа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13"/>
          <p:cNvSpPr/>
          <p:nvPr/>
        </p:nvSpPr>
        <p:spPr>
          <a:xfrm>
            <a:off x="3237120" y="1463040"/>
            <a:ext cx="123408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3291840" y="1508760"/>
            <a:ext cx="112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Тіл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 15"/>
          <p:cNvSpPr/>
          <p:nvPr/>
        </p:nvSpPr>
        <p:spPr>
          <a:xfrm>
            <a:off x="4507920" y="1463040"/>
            <a:ext cx="150840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4563000" y="1508760"/>
            <a:ext cx="1398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KZ-контекст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17"/>
          <p:cNvSpPr/>
          <p:nvPr/>
        </p:nvSpPr>
        <p:spPr>
          <a:xfrm>
            <a:off x="6053400" y="1463040"/>
            <a:ext cx="310860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6108120" y="1508760"/>
            <a:ext cx="2998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ML + Ережелер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 19"/>
          <p:cNvSpPr/>
          <p:nvPr/>
        </p:nvSpPr>
        <p:spPr>
          <a:xfrm>
            <a:off x="9198720" y="1463040"/>
            <a:ext cx="214848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20"/>
          <p:cNvSpPr/>
          <p:nvPr/>
        </p:nvSpPr>
        <p:spPr>
          <a:xfrm>
            <a:off x="9253800" y="1508760"/>
            <a:ext cx="2038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Жергілікті деплой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21"/>
          <p:cNvSpPr/>
          <p:nvPr/>
        </p:nvSpPr>
        <p:spPr>
          <a:xfrm>
            <a:off x="274320" y="1974960"/>
            <a:ext cx="292572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22"/>
          <p:cNvSpPr/>
          <p:nvPr/>
        </p:nvSpPr>
        <p:spPr>
          <a:xfrm>
            <a:off x="329040" y="2084760"/>
            <a:ext cx="2815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FakeNewsNet (АҚШ)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tangle 23"/>
          <p:cNvSpPr/>
          <p:nvPr/>
        </p:nvSpPr>
        <p:spPr>
          <a:xfrm>
            <a:off x="3237120" y="1974960"/>
            <a:ext cx="123408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24"/>
          <p:cNvSpPr/>
          <p:nvPr/>
        </p:nvSpPr>
        <p:spPr>
          <a:xfrm>
            <a:off x="3291840" y="2084760"/>
            <a:ext cx="1124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Ағылшын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25"/>
          <p:cNvSpPr/>
          <p:nvPr/>
        </p:nvSpPr>
        <p:spPr>
          <a:xfrm>
            <a:off x="4507920" y="1974960"/>
            <a:ext cx="150840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26"/>
          <p:cNvSpPr/>
          <p:nvPr/>
        </p:nvSpPr>
        <p:spPr>
          <a:xfrm>
            <a:off x="4563000" y="2084760"/>
            <a:ext cx="13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 27"/>
          <p:cNvSpPr/>
          <p:nvPr/>
        </p:nvSpPr>
        <p:spPr>
          <a:xfrm>
            <a:off x="6053400" y="1974960"/>
            <a:ext cx="310860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28"/>
          <p:cNvSpPr/>
          <p:nvPr/>
        </p:nvSpPr>
        <p:spPr>
          <a:xfrm>
            <a:off x="6108120" y="2084760"/>
            <a:ext cx="2998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✗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(тек ML)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29"/>
          <p:cNvSpPr/>
          <p:nvPr/>
        </p:nvSpPr>
        <p:spPr>
          <a:xfrm>
            <a:off x="9198720" y="1974960"/>
            <a:ext cx="214848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30"/>
          <p:cNvSpPr/>
          <p:nvPr/>
        </p:nvSpPr>
        <p:spPr>
          <a:xfrm>
            <a:off x="9253800" y="2084760"/>
            <a:ext cx="203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ectangle 31"/>
          <p:cNvSpPr/>
          <p:nvPr/>
        </p:nvSpPr>
        <p:spPr>
          <a:xfrm>
            <a:off x="274320" y="2724840"/>
            <a:ext cx="292572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32"/>
          <p:cNvSpPr/>
          <p:nvPr/>
        </p:nvSpPr>
        <p:spPr>
          <a:xfrm>
            <a:off x="329040" y="2834640"/>
            <a:ext cx="2815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RuFake (Ресей)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33"/>
          <p:cNvSpPr/>
          <p:nvPr/>
        </p:nvSpPr>
        <p:spPr>
          <a:xfrm>
            <a:off x="3237120" y="2724840"/>
            <a:ext cx="123408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34"/>
          <p:cNvSpPr/>
          <p:nvPr/>
        </p:nvSpPr>
        <p:spPr>
          <a:xfrm>
            <a:off x="3291840" y="2834640"/>
            <a:ext cx="1124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Орыс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ectangle 35"/>
          <p:cNvSpPr/>
          <p:nvPr/>
        </p:nvSpPr>
        <p:spPr>
          <a:xfrm>
            <a:off x="4507920" y="2724840"/>
            <a:ext cx="150840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36"/>
          <p:cNvSpPr/>
          <p:nvPr/>
        </p:nvSpPr>
        <p:spPr>
          <a:xfrm>
            <a:off x="4563000" y="2834640"/>
            <a:ext cx="13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ectangle 37"/>
          <p:cNvSpPr/>
          <p:nvPr/>
        </p:nvSpPr>
        <p:spPr>
          <a:xfrm>
            <a:off x="6053400" y="2724840"/>
            <a:ext cx="310860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38"/>
          <p:cNvSpPr/>
          <p:nvPr/>
        </p:nvSpPr>
        <p:spPr>
          <a:xfrm>
            <a:off x="6108120" y="2834640"/>
            <a:ext cx="2998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✗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(тек ML)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 39"/>
          <p:cNvSpPr/>
          <p:nvPr/>
        </p:nvSpPr>
        <p:spPr>
          <a:xfrm>
            <a:off x="9198720" y="2724840"/>
            <a:ext cx="214848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40"/>
          <p:cNvSpPr/>
          <p:nvPr/>
        </p:nvSpPr>
        <p:spPr>
          <a:xfrm>
            <a:off x="9253800" y="2834640"/>
            <a:ext cx="203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41"/>
          <p:cNvSpPr/>
          <p:nvPr/>
        </p:nvSpPr>
        <p:spPr>
          <a:xfrm>
            <a:off x="274320" y="3474720"/>
            <a:ext cx="292572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TextBox 42"/>
          <p:cNvSpPr/>
          <p:nvPr/>
        </p:nvSpPr>
        <p:spPr>
          <a:xfrm>
            <a:off x="329040" y="3584520"/>
            <a:ext cx="2815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FEVER (Ұлыбритания)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43"/>
          <p:cNvSpPr/>
          <p:nvPr/>
        </p:nvSpPr>
        <p:spPr>
          <a:xfrm>
            <a:off x="3237120" y="3474720"/>
            <a:ext cx="123408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44"/>
          <p:cNvSpPr/>
          <p:nvPr/>
        </p:nvSpPr>
        <p:spPr>
          <a:xfrm>
            <a:off x="3291840" y="3584520"/>
            <a:ext cx="1124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Ағылшын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 45"/>
          <p:cNvSpPr/>
          <p:nvPr/>
        </p:nvSpPr>
        <p:spPr>
          <a:xfrm>
            <a:off x="4507920" y="3474720"/>
            <a:ext cx="150840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46"/>
          <p:cNvSpPr/>
          <p:nvPr/>
        </p:nvSpPr>
        <p:spPr>
          <a:xfrm>
            <a:off x="4563000" y="3584520"/>
            <a:ext cx="13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47"/>
          <p:cNvSpPr/>
          <p:nvPr/>
        </p:nvSpPr>
        <p:spPr>
          <a:xfrm>
            <a:off x="6053400" y="3474720"/>
            <a:ext cx="310860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48"/>
          <p:cNvSpPr/>
          <p:nvPr/>
        </p:nvSpPr>
        <p:spPr>
          <a:xfrm>
            <a:off x="6108120" y="3584520"/>
            <a:ext cx="2998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✗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(фактчек ғана)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49"/>
          <p:cNvSpPr/>
          <p:nvPr/>
        </p:nvSpPr>
        <p:spPr>
          <a:xfrm>
            <a:off x="9198720" y="3474720"/>
            <a:ext cx="2148480" cy="694440"/>
          </a:xfrm>
          <a:prstGeom prst="rect">
            <a:avLst/>
          </a:prstGeom>
          <a:solidFill>
            <a:srgbClr val="eef4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50"/>
          <p:cNvSpPr/>
          <p:nvPr/>
        </p:nvSpPr>
        <p:spPr>
          <a:xfrm>
            <a:off x="9253800" y="3584520"/>
            <a:ext cx="203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tangle 51"/>
          <p:cNvSpPr/>
          <p:nvPr/>
        </p:nvSpPr>
        <p:spPr>
          <a:xfrm>
            <a:off x="274320" y="4224600"/>
            <a:ext cx="292572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TextBox 52"/>
          <p:cNvSpPr/>
          <p:nvPr/>
        </p:nvSpPr>
        <p:spPr>
          <a:xfrm>
            <a:off x="329040" y="4334400"/>
            <a:ext cx="2815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ClaimBuster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53"/>
          <p:cNvSpPr/>
          <p:nvPr/>
        </p:nvSpPr>
        <p:spPr>
          <a:xfrm>
            <a:off x="3237120" y="4224600"/>
            <a:ext cx="123408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54"/>
          <p:cNvSpPr/>
          <p:nvPr/>
        </p:nvSpPr>
        <p:spPr>
          <a:xfrm>
            <a:off x="3291840" y="4334400"/>
            <a:ext cx="1124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Ағылшын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tangle 55"/>
          <p:cNvSpPr/>
          <p:nvPr/>
        </p:nvSpPr>
        <p:spPr>
          <a:xfrm>
            <a:off x="4507920" y="4224600"/>
            <a:ext cx="150840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56"/>
          <p:cNvSpPr/>
          <p:nvPr/>
        </p:nvSpPr>
        <p:spPr>
          <a:xfrm>
            <a:off x="4563000" y="4334400"/>
            <a:ext cx="13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 57"/>
          <p:cNvSpPr/>
          <p:nvPr/>
        </p:nvSpPr>
        <p:spPr>
          <a:xfrm>
            <a:off x="6053400" y="4224600"/>
            <a:ext cx="310860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58"/>
          <p:cNvSpPr/>
          <p:nvPr/>
        </p:nvSpPr>
        <p:spPr>
          <a:xfrm>
            <a:off x="6108120" y="4334400"/>
            <a:ext cx="2998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✗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(тек API)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 59"/>
          <p:cNvSpPr/>
          <p:nvPr/>
        </p:nvSpPr>
        <p:spPr>
          <a:xfrm>
            <a:off x="9198720" y="4224600"/>
            <a:ext cx="2148480" cy="694440"/>
          </a:xfrm>
          <a:prstGeom prst="rect">
            <a:avLst/>
          </a:prstGeom>
          <a:solidFill>
            <a:srgbClr val="ffffff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0"/>
          <p:cNvSpPr/>
          <p:nvPr/>
        </p:nvSpPr>
        <p:spPr>
          <a:xfrm>
            <a:off x="9253800" y="4334400"/>
            <a:ext cx="203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0392b"/>
                </a:solidFill>
                <a:latin typeface="Times New Roman"/>
              </a:rPr>
              <a:t>✗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61"/>
          <p:cNvSpPr/>
          <p:nvPr/>
        </p:nvSpPr>
        <p:spPr>
          <a:xfrm>
            <a:off x="274320" y="4974480"/>
            <a:ext cx="2925720" cy="694440"/>
          </a:xfrm>
          <a:prstGeom prst="rect">
            <a:avLst/>
          </a:prstGeom>
          <a:solidFill>
            <a:srgbClr val="00358e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62"/>
          <p:cNvSpPr/>
          <p:nvPr/>
        </p:nvSpPr>
        <p:spPr>
          <a:xfrm>
            <a:off x="329040" y="5083920"/>
            <a:ext cx="28159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Ұсынылған жүйе ★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63"/>
          <p:cNvSpPr/>
          <p:nvPr/>
        </p:nvSpPr>
        <p:spPr>
          <a:xfrm>
            <a:off x="3237120" y="4974480"/>
            <a:ext cx="1234080" cy="694440"/>
          </a:xfrm>
          <a:prstGeom prst="rect">
            <a:avLst/>
          </a:prstGeom>
          <a:solidFill>
            <a:srgbClr val="00358e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64"/>
          <p:cNvSpPr/>
          <p:nvPr/>
        </p:nvSpPr>
        <p:spPr>
          <a:xfrm>
            <a:off x="3291840" y="5083920"/>
            <a:ext cx="1124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RU + KZ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ectangle 65"/>
          <p:cNvSpPr/>
          <p:nvPr/>
        </p:nvSpPr>
        <p:spPr>
          <a:xfrm>
            <a:off x="4507920" y="4974480"/>
            <a:ext cx="1508400" cy="694440"/>
          </a:xfrm>
          <a:prstGeom prst="rect">
            <a:avLst/>
          </a:prstGeom>
          <a:solidFill>
            <a:srgbClr val="00358e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66"/>
          <p:cNvSpPr/>
          <p:nvPr/>
        </p:nvSpPr>
        <p:spPr>
          <a:xfrm>
            <a:off x="4563000" y="5083920"/>
            <a:ext cx="13986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✓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67"/>
          <p:cNvSpPr/>
          <p:nvPr/>
        </p:nvSpPr>
        <p:spPr>
          <a:xfrm>
            <a:off x="6053400" y="4974480"/>
            <a:ext cx="3108600" cy="694440"/>
          </a:xfrm>
          <a:prstGeom prst="rect">
            <a:avLst/>
          </a:prstGeom>
          <a:solidFill>
            <a:srgbClr val="00358e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68"/>
          <p:cNvSpPr/>
          <p:nvPr/>
        </p:nvSpPr>
        <p:spPr>
          <a:xfrm>
            <a:off x="6108120" y="5083920"/>
            <a:ext cx="2998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ML 60% + ережелер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ectangle 69"/>
          <p:cNvSpPr/>
          <p:nvPr/>
        </p:nvSpPr>
        <p:spPr>
          <a:xfrm>
            <a:off x="9198720" y="4974480"/>
            <a:ext cx="2148480" cy="694440"/>
          </a:xfrm>
          <a:prstGeom prst="rect">
            <a:avLst/>
          </a:prstGeom>
          <a:solidFill>
            <a:srgbClr val="00358e"/>
          </a:solidFill>
          <a:ln>
            <a:solidFill>
              <a:srgbClr val="d6e4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70"/>
          <p:cNvSpPr/>
          <p:nvPr/>
        </p:nvSpPr>
        <p:spPr>
          <a:xfrm>
            <a:off x="9253800" y="5083920"/>
            <a:ext cx="20386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✓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71"/>
          <p:cNvSpPr/>
          <p:nvPr/>
        </p:nvSpPr>
        <p:spPr>
          <a:xfrm>
            <a:off x="274320" y="5943600"/>
            <a:ext cx="11639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★  </a:t>
            </a: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Ұсынылған жүйе KZ-контексімен, екітілді қолдауымен және гибридті архитектурасымен аналогтардан ерекшеленеді.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3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24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6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Жүйе архитектурасы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Rectangle 11"/>
          <p:cNvSpPr/>
          <p:nvPr/>
        </p:nvSpPr>
        <p:spPr>
          <a:xfrm>
            <a:off x="274320" y="1463040"/>
            <a:ext cx="2084400" cy="7128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12"/>
          <p:cNvSpPr/>
          <p:nvPr/>
        </p:nvSpPr>
        <p:spPr>
          <a:xfrm>
            <a:off x="274320" y="1499760"/>
            <a:ext cx="208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①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Кіріс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3"/>
          <p:cNvSpPr/>
          <p:nvPr/>
        </p:nvSpPr>
        <p:spPr>
          <a:xfrm>
            <a:off x="274320" y="1810440"/>
            <a:ext cx="20844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Мәтін / URL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4"/>
          <p:cNvSpPr/>
          <p:nvPr/>
        </p:nvSpPr>
        <p:spPr>
          <a:xfrm>
            <a:off x="2386440" y="157284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15"/>
          <p:cNvSpPr/>
          <p:nvPr/>
        </p:nvSpPr>
        <p:spPr>
          <a:xfrm>
            <a:off x="2560320" y="1463040"/>
            <a:ext cx="2084400" cy="71280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6"/>
          <p:cNvSpPr/>
          <p:nvPr/>
        </p:nvSpPr>
        <p:spPr>
          <a:xfrm>
            <a:off x="2560320" y="1499760"/>
            <a:ext cx="208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②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ML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7"/>
          <p:cNvSpPr/>
          <p:nvPr/>
        </p:nvSpPr>
        <p:spPr>
          <a:xfrm>
            <a:off x="2560320" y="1810440"/>
            <a:ext cx="2084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ruBert-base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60%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8"/>
          <p:cNvSpPr/>
          <p:nvPr/>
        </p:nvSpPr>
        <p:spPr>
          <a:xfrm>
            <a:off x="4672440" y="157284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19"/>
          <p:cNvSpPr/>
          <p:nvPr/>
        </p:nvSpPr>
        <p:spPr>
          <a:xfrm>
            <a:off x="4846320" y="1463040"/>
            <a:ext cx="2084400" cy="71280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0"/>
          <p:cNvSpPr/>
          <p:nvPr/>
        </p:nvSpPr>
        <p:spPr>
          <a:xfrm>
            <a:off x="4846320" y="1499760"/>
            <a:ext cx="208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③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Ережелер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21"/>
          <p:cNvSpPr/>
          <p:nvPr/>
        </p:nvSpPr>
        <p:spPr>
          <a:xfrm>
            <a:off x="4846320" y="1810440"/>
            <a:ext cx="2084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5 модуль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40%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22"/>
          <p:cNvSpPr/>
          <p:nvPr/>
        </p:nvSpPr>
        <p:spPr>
          <a:xfrm>
            <a:off x="6958440" y="157284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Rectangle 23"/>
          <p:cNvSpPr/>
          <p:nvPr/>
        </p:nvSpPr>
        <p:spPr>
          <a:xfrm>
            <a:off x="7132320" y="1463040"/>
            <a:ext cx="2084400" cy="7128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TextBox 24"/>
          <p:cNvSpPr/>
          <p:nvPr/>
        </p:nvSpPr>
        <p:spPr>
          <a:xfrm>
            <a:off x="7132320" y="1499760"/>
            <a:ext cx="208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④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Скор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25"/>
          <p:cNvSpPr/>
          <p:nvPr/>
        </p:nvSpPr>
        <p:spPr>
          <a:xfrm>
            <a:off x="7132320" y="1810440"/>
            <a:ext cx="2084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Weighted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60/40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26"/>
          <p:cNvSpPr/>
          <p:nvPr/>
        </p:nvSpPr>
        <p:spPr>
          <a:xfrm>
            <a:off x="9244440" y="1572840"/>
            <a:ext cx="18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27"/>
          <p:cNvSpPr/>
          <p:nvPr/>
        </p:nvSpPr>
        <p:spPr>
          <a:xfrm>
            <a:off x="9418320" y="1463040"/>
            <a:ext cx="2084400" cy="712800"/>
          </a:xfrm>
          <a:prstGeom prst="rect">
            <a:avLst/>
          </a:prstGeom>
          <a:solidFill>
            <a:srgbClr val="0d3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28"/>
          <p:cNvSpPr/>
          <p:nvPr/>
        </p:nvSpPr>
        <p:spPr>
          <a:xfrm>
            <a:off x="9418320" y="1499760"/>
            <a:ext cx="2084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⑤ </a:t>
            </a: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Нәтиже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29"/>
          <p:cNvSpPr/>
          <p:nvPr/>
        </p:nvSpPr>
        <p:spPr>
          <a:xfrm>
            <a:off x="9418320" y="1810440"/>
            <a:ext cx="2084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Есеп +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Times New Roman"/>
              </a:rPr>
              <a:t>PostgreSQL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ectangle 30"/>
          <p:cNvSpPr/>
          <p:nvPr/>
        </p:nvSpPr>
        <p:spPr>
          <a:xfrm>
            <a:off x="274320" y="2359080"/>
            <a:ext cx="5486040" cy="363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ectangle 31"/>
          <p:cNvSpPr/>
          <p:nvPr/>
        </p:nvSpPr>
        <p:spPr>
          <a:xfrm>
            <a:off x="274320" y="2359080"/>
            <a:ext cx="5486040" cy="40212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32"/>
          <p:cNvSpPr/>
          <p:nvPr/>
        </p:nvSpPr>
        <p:spPr>
          <a:xfrm>
            <a:off x="365760" y="2395800"/>
            <a:ext cx="532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ML-модель — 60%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3"/>
          <p:cNvSpPr/>
          <p:nvPr/>
        </p:nvSpPr>
        <p:spPr>
          <a:xfrm>
            <a:off x="384120" y="2834640"/>
            <a:ext cx="5248440" cy="13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ai-forever/ruBert-base (178М параметр)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KZ деректерінде fine-tuned (4 эпоха, T4 GPU)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ONNX экспорт → INT8 кванттау (4× қысу)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Инференс медианасы: ~550 мс (CPUExecutionProvider)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MAX_SEQ_LENGTH = 256 токен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34"/>
          <p:cNvSpPr/>
          <p:nvPr/>
        </p:nvSpPr>
        <p:spPr>
          <a:xfrm>
            <a:off x="5989320" y="2359080"/>
            <a:ext cx="5924880" cy="363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Rectangle 35"/>
          <p:cNvSpPr/>
          <p:nvPr/>
        </p:nvSpPr>
        <p:spPr>
          <a:xfrm>
            <a:off x="5989320" y="2359080"/>
            <a:ext cx="5924880" cy="40212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36"/>
          <p:cNvSpPr/>
          <p:nvPr/>
        </p:nvSpPr>
        <p:spPr>
          <a:xfrm>
            <a:off x="6080760" y="2395800"/>
            <a:ext cx="5742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Ережелер жүйесі — 40%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37"/>
          <p:cNvSpPr/>
          <p:nvPr/>
        </p:nvSpPr>
        <p:spPr>
          <a:xfrm>
            <a:off x="6099120" y="2834640"/>
            <a:ext cx="5687280" cy="133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Кликбейт — 28 үлгі (RU + KZ)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Лингвистика — эмоциялық лексика (4 категория)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Дереккөз беделі — 36 домен рейтингі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Құрылым — ұзындық, сан деректері тексеру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99"/>
              </a:spcBef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Фактчек — Google Custom Search API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60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1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7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Деректер жиыны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11"/>
          <p:cNvSpPr/>
          <p:nvPr/>
        </p:nvSpPr>
        <p:spPr>
          <a:xfrm>
            <a:off x="274320" y="1463040"/>
            <a:ext cx="2761200" cy="1170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12"/>
          <p:cNvSpPr/>
          <p:nvPr/>
        </p:nvSpPr>
        <p:spPr>
          <a:xfrm>
            <a:off x="274320" y="1517760"/>
            <a:ext cx="2761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Times New Roman"/>
              </a:rPr>
              <a:t>45 221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3"/>
          <p:cNvSpPr/>
          <p:nvPr/>
        </p:nvSpPr>
        <p:spPr>
          <a:xfrm>
            <a:off x="274320" y="2139840"/>
            <a:ext cx="2761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жалпы мәтін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ectangle 14"/>
          <p:cNvSpPr/>
          <p:nvPr/>
        </p:nvSpPr>
        <p:spPr>
          <a:xfrm>
            <a:off x="3108960" y="1463040"/>
            <a:ext cx="2761200" cy="117000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15"/>
          <p:cNvSpPr/>
          <p:nvPr/>
        </p:nvSpPr>
        <p:spPr>
          <a:xfrm>
            <a:off x="3108960" y="1517760"/>
            <a:ext cx="2761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Times New Roman"/>
              </a:rPr>
              <a:t>~35 000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16"/>
          <p:cNvSpPr/>
          <p:nvPr/>
        </p:nvSpPr>
        <p:spPr>
          <a:xfrm>
            <a:off x="3108960" y="2139840"/>
            <a:ext cx="2761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нақты жаңалық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Rectangle 17"/>
          <p:cNvSpPr/>
          <p:nvPr/>
        </p:nvSpPr>
        <p:spPr>
          <a:xfrm>
            <a:off x="5943600" y="1463040"/>
            <a:ext cx="2761200" cy="117000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8"/>
          <p:cNvSpPr/>
          <p:nvPr/>
        </p:nvSpPr>
        <p:spPr>
          <a:xfrm>
            <a:off x="5943600" y="1517760"/>
            <a:ext cx="2761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Times New Roman"/>
              </a:rPr>
              <a:t>~11 400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Box 19"/>
          <p:cNvSpPr/>
          <p:nvPr/>
        </p:nvSpPr>
        <p:spPr>
          <a:xfrm>
            <a:off x="5943600" y="2139840"/>
            <a:ext cx="2761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синтетикалық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дезинфо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ectangle 20"/>
          <p:cNvSpPr/>
          <p:nvPr/>
        </p:nvSpPr>
        <p:spPr>
          <a:xfrm>
            <a:off x="8778240" y="1463040"/>
            <a:ext cx="2761200" cy="1170000"/>
          </a:xfrm>
          <a:prstGeom prst="rect">
            <a:avLst/>
          </a:prstGeom>
          <a:solidFill>
            <a:srgbClr val="0d3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21"/>
          <p:cNvSpPr/>
          <p:nvPr/>
        </p:nvSpPr>
        <p:spPr>
          <a:xfrm>
            <a:off x="8778240" y="1517760"/>
            <a:ext cx="2761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Times New Roman"/>
              </a:rPr>
              <a:t>~10 000+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22"/>
          <p:cNvSpPr/>
          <p:nvPr/>
        </p:nvSpPr>
        <p:spPr>
          <a:xfrm>
            <a:off x="8778240" y="2139840"/>
            <a:ext cx="2761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аугментация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Rectangle 23"/>
          <p:cNvSpPr/>
          <p:nvPr/>
        </p:nvSpPr>
        <p:spPr>
          <a:xfrm>
            <a:off x="274320" y="2834640"/>
            <a:ext cx="5486040" cy="3163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2" name="Rectangle 24"/>
          <p:cNvSpPr/>
          <p:nvPr/>
        </p:nvSpPr>
        <p:spPr>
          <a:xfrm>
            <a:off x="274320" y="2834640"/>
            <a:ext cx="5486040" cy="3837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25"/>
          <p:cNvSpPr/>
          <p:nvPr/>
        </p:nvSpPr>
        <p:spPr>
          <a:xfrm>
            <a:off x="365760" y="2871360"/>
            <a:ext cx="53215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Деректер бөлінісі (Стратифицирленген)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26"/>
          <p:cNvSpPr/>
          <p:nvPr/>
        </p:nvSpPr>
        <p:spPr>
          <a:xfrm>
            <a:off x="320040" y="3328560"/>
            <a:ext cx="5376240" cy="60300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27"/>
          <p:cNvSpPr/>
          <p:nvPr/>
        </p:nvSpPr>
        <p:spPr>
          <a:xfrm>
            <a:off x="402480" y="3420000"/>
            <a:ext cx="1645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358e"/>
                </a:solidFill>
                <a:latin typeface="Times New Roman"/>
              </a:rPr>
              <a:t>Train: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Box 28"/>
          <p:cNvSpPr/>
          <p:nvPr/>
        </p:nvSpPr>
        <p:spPr>
          <a:xfrm>
            <a:off x="2103120" y="3420000"/>
            <a:ext cx="2011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31 654 мәтін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Box 29"/>
          <p:cNvSpPr/>
          <p:nvPr/>
        </p:nvSpPr>
        <p:spPr>
          <a:xfrm>
            <a:off x="4480560" y="3420000"/>
            <a:ext cx="1005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358e"/>
                </a:solidFill>
                <a:latin typeface="Times New Roman"/>
              </a:rPr>
              <a:t>70%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ectangle 30"/>
          <p:cNvSpPr/>
          <p:nvPr/>
        </p:nvSpPr>
        <p:spPr>
          <a:xfrm>
            <a:off x="320040" y="3986640"/>
            <a:ext cx="5376240" cy="60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31"/>
          <p:cNvSpPr/>
          <p:nvPr/>
        </p:nvSpPr>
        <p:spPr>
          <a:xfrm>
            <a:off x="402480" y="4078080"/>
            <a:ext cx="1645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358e"/>
                </a:solidFill>
                <a:latin typeface="Times New Roman"/>
              </a:rPr>
              <a:t>Validation: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32"/>
          <p:cNvSpPr/>
          <p:nvPr/>
        </p:nvSpPr>
        <p:spPr>
          <a:xfrm>
            <a:off x="2103120" y="4078080"/>
            <a:ext cx="2011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6 783 мәтін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33"/>
          <p:cNvSpPr/>
          <p:nvPr/>
        </p:nvSpPr>
        <p:spPr>
          <a:xfrm>
            <a:off x="4480560" y="4078080"/>
            <a:ext cx="1005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358e"/>
                </a:solidFill>
                <a:latin typeface="Times New Roman"/>
              </a:rPr>
              <a:t>15%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34"/>
          <p:cNvSpPr/>
          <p:nvPr/>
        </p:nvSpPr>
        <p:spPr>
          <a:xfrm>
            <a:off x="320040" y="4645080"/>
            <a:ext cx="5376240" cy="60300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35"/>
          <p:cNvSpPr/>
          <p:nvPr/>
        </p:nvSpPr>
        <p:spPr>
          <a:xfrm>
            <a:off x="402480" y="4736520"/>
            <a:ext cx="16455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0358e"/>
                </a:solidFill>
                <a:latin typeface="Times New Roman"/>
              </a:rPr>
              <a:t>Test: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36"/>
          <p:cNvSpPr/>
          <p:nvPr/>
        </p:nvSpPr>
        <p:spPr>
          <a:xfrm>
            <a:off x="2103120" y="4736520"/>
            <a:ext cx="20113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 </a:t>
            </a: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6 784 мәтін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37"/>
          <p:cNvSpPr/>
          <p:nvPr/>
        </p:nvSpPr>
        <p:spPr>
          <a:xfrm>
            <a:off x="4480560" y="4736520"/>
            <a:ext cx="1005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0358e"/>
                </a:solidFill>
                <a:latin typeface="Times New Roman"/>
              </a:rPr>
              <a:t>15%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38"/>
          <p:cNvSpPr/>
          <p:nvPr/>
        </p:nvSpPr>
        <p:spPr>
          <a:xfrm>
            <a:off x="365760" y="5559480"/>
            <a:ext cx="52117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873e"/>
                </a:solidFill>
                <a:latin typeface="Times New Roman"/>
              </a:rPr>
              <a:t>Класс теңгерімі сақталған ✓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 39"/>
          <p:cNvSpPr/>
          <p:nvPr/>
        </p:nvSpPr>
        <p:spPr>
          <a:xfrm>
            <a:off x="5989320" y="2834640"/>
            <a:ext cx="5924880" cy="3163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e5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ectangle 40"/>
          <p:cNvSpPr/>
          <p:nvPr/>
        </p:nvSpPr>
        <p:spPr>
          <a:xfrm>
            <a:off x="5989320" y="2834640"/>
            <a:ext cx="5924880" cy="38376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41"/>
          <p:cNvSpPr/>
          <p:nvPr/>
        </p:nvSpPr>
        <p:spPr>
          <a:xfrm>
            <a:off x="6080760" y="2871360"/>
            <a:ext cx="5742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Times New Roman"/>
              </a:rPr>
              <a:t>Дереккөздер және KZ тақырыптары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42"/>
          <p:cNvSpPr/>
          <p:nvPr/>
        </p:nvSpPr>
        <p:spPr>
          <a:xfrm>
            <a:off x="6099120" y="3310200"/>
            <a:ext cx="5687280" cy="14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Нақты жаңалық: gazeta.ru · lenta.ru · ria.ru · mlsum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KZ тақырыптары: 120 (теңге, Акорда, ҰҚК, eGov, Байқоңыр...)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RU дезинфо: 120 × 65 үлгі = 7 800 мәтін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KZ дезинфо: 120 × 30 үлгі = 3 600 мәтін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RU сенімді: 120 × 25 = 3 000 · KZ: 120 × 15 = 1 800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▸  </a:t>
            </a:r>
            <a:r>
              <a:rPr b="0" lang="en-US" sz="1250" spc="-1" strike="noStrike">
                <a:solidFill>
                  <a:srgbClr val="1a1a1a"/>
                </a:solidFill>
                <a:latin typeface="Times New Roman"/>
              </a:rPr>
              <a:t>Аугментация: 6 әдіс, 80% мөлшерлеме (~10 000+)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02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03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8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Модельді оқыту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Rectangle 11"/>
          <p:cNvSpPr/>
          <p:nvPr/>
        </p:nvSpPr>
        <p:spPr>
          <a:xfrm>
            <a:off x="274320" y="1463040"/>
            <a:ext cx="5486040" cy="457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Rectangle 12"/>
          <p:cNvSpPr/>
          <p:nvPr/>
        </p:nvSpPr>
        <p:spPr>
          <a:xfrm>
            <a:off x="274320" y="1463040"/>
            <a:ext cx="5486040" cy="40212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3"/>
          <p:cNvSpPr/>
          <p:nvPr/>
        </p:nvSpPr>
        <p:spPr>
          <a:xfrm>
            <a:off x="365760" y="1499760"/>
            <a:ext cx="532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Гиперпараметрлер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ectangle 14"/>
          <p:cNvSpPr/>
          <p:nvPr/>
        </p:nvSpPr>
        <p:spPr>
          <a:xfrm>
            <a:off x="320040" y="195696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5"/>
          <p:cNvSpPr/>
          <p:nvPr/>
        </p:nvSpPr>
        <p:spPr>
          <a:xfrm>
            <a:off x="393120" y="201168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Модель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16"/>
          <p:cNvSpPr/>
          <p:nvPr/>
        </p:nvSpPr>
        <p:spPr>
          <a:xfrm>
            <a:off x="2084760" y="201168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ai-forever/ruBert-base (178М)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ectangle 17"/>
          <p:cNvSpPr/>
          <p:nvPr/>
        </p:nvSpPr>
        <p:spPr>
          <a:xfrm>
            <a:off x="320040" y="243216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18"/>
          <p:cNvSpPr/>
          <p:nvPr/>
        </p:nvSpPr>
        <p:spPr>
          <a:xfrm>
            <a:off x="393120" y="248724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Эпохалар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19"/>
          <p:cNvSpPr/>
          <p:nvPr/>
        </p:nvSpPr>
        <p:spPr>
          <a:xfrm>
            <a:off x="2084760" y="248724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4  (early stopping + best checkpoint)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20"/>
          <p:cNvSpPr/>
          <p:nvPr/>
        </p:nvSpPr>
        <p:spPr>
          <a:xfrm>
            <a:off x="320040" y="290772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1" name="TextBox 21"/>
          <p:cNvSpPr/>
          <p:nvPr/>
        </p:nvSpPr>
        <p:spPr>
          <a:xfrm>
            <a:off x="393120" y="296280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Learning 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22"/>
          <p:cNvSpPr/>
          <p:nvPr/>
        </p:nvSpPr>
        <p:spPr>
          <a:xfrm>
            <a:off x="2084760" y="296280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2e-5  |  AdamW optimizer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Rectangle 23"/>
          <p:cNvSpPr/>
          <p:nvPr/>
        </p:nvSpPr>
        <p:spPr>
          <a:xfrm>
            <a:off x="320040" y="338328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TextBox 24"/>
          <p:cNvSpPr/>
          <p:nvPr/>
        </p:nvSpPr>
        <p:spPr>
          <a:xfrm>
            <a:off x="393120" y="343800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Batch size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Box 25"/>
          <p:cNvSpPr/>
          <p:nvPr/>
        </p:nvSpPr>
        <p:spPr>
          <a:xfrm>
            <a:off x="2084760" y="343800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16 × grad_accum 2 = эффективті 32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 26"/>
          <p:cNvSpPr/>
          <p:nvPr/>
        </p:nvSpPr>
        <p:spPr>
          <a:xfrm>
            <a:off x="320040" y="385884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7" name="TextBox 27"/>
          <p:cNvSpPr/>
          <p:nvPr/>
        </p:nvSpPr>
        <p:spPr>
          <a:xfrm>
            <a:off x="393120" y="391356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MAX_LENGTH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28"/>
          <p:cNvSpPr/>
          <p:nvPr/>
        </p:nvSpPr>
        <p:spPr>
          <a:xfrm>
            <a:off x="2084760" y="391356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256 токен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 29"/>
          <p:cNvSpPr/>
          <p:nvPr/>
        </p:nvSpPr>
        <p:spPr>
          <a:xfrm>
            <a:off x="320040" y="433440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30"/>
          <p:cNvSpPr/>
          <p:nvPr/>
        </p:nvSpPr>
        <p:spPr>
          <a:xfrm>
            <a:off x="393120" y="438912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Warmup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31"/>
          <p:cNvSpPr/>
          <p:nvPr/>
        </p:nvSpPr>
        <p:spPr>
          <a:xfrm>
            <a:off x="2084760" y="438912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10%  |  Weight decay: 0.01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 32"/>
          <p:cNvSpPr/>
          <p:nvPr/>
        </p:nvSpPr>
        <p:spPr>
          <a:xfrm>
            <a:off x="320040" y="480960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33"/>
          <p:cNvSpPr/>
          <p:nvPr/>
        </p:nvSpPr>
        <p:spPr>
          <a:xfrm>
            <a:off x="393120" y="486468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Платформа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34"/>
          <p:cNvSpPr/>
          <p:nvPr/>
        </p:nvSpPr>
        <p:spPr>
          <a:xfrm>
            <a:off x="2084760" y="486468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Google Colab T4 GPU (16 ГБ)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ectangle 35"/>
          <p:cNvSpPr/>
          <p:nvPr/>
        </p:nvSpPr>
        <p:spPr>
          <a:xfrm>
            <a:off x="320040" y="528516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TextBox 36"/>
          <p:cNvSpPr/>
          <p:nvPr/>
        </p:nvSpPr>
        <p:spPr>
          <a:xfrm>
            <a:off x="393120" y="5340240"/>
            <a:ext cx="162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Оқыту уақыты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37"/>
          <p:cNvSpPr/>
          <p:nvPr/>
        </p:nvSpPr>
        <p:spPr>
          <a:xfrm>
            <a:off x="2084760" y="5340240"/>
            <a:ext cx="35110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~70 минут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38"/>
          <p:cNvSpPr/>
          <p:nvPr/>
        </p:nvSpPr>
        <p:spPr>
          <a:xfrm>
            <a:off x="5989320" y="1463040"/>
            <a:ext cx="5924880" cy="457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ectangle 39"/>
          <p:cNvSpPr/>
          <p:nvPr/>
        </p:nvSpPr>
        <p:spPr>
          <a:xfrm>
            <a:off x="5989320" y="1463040"/>
            <a:ext cx="5924880" cy="40212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40"/>
          <p:cNvSpPr/>
          <p:nvPr/>
        </p:nvSpPr>
        <p:spPr>
          <a:xfrm>
            <a:off x="6080760" y="1499760"/>
            <a:ext cx="5742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Экспорт жолы (Модель оңтайландыру)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Rectangle 41"/>
          <p:cNvSpPr/>
          <p:nvPr/>
        </p:nvSpPr>
        <p:spPr>
          <a:xfrm>
            <a:off x="6172200" y="2030040"/>
            <a:ext cx="1261440" cy="1023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TextBox 42"/>
          <p:cNvSpPr/>
          <p:nvPr/>
        </p:nvSpPr>
        <p:spPr>
          <a:xfrm>
            <a:off x="6172200" y="2084760"/>
            <a:ext cx="1261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PyTorch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.bin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43"/>
          <p:cNvSpPr/>
          <p:nvPr/>
        </p:nvSpPr>
        <p:spPr>
          <a:xfrm>
            <a:off x="6172200" y="2597040"/>
            <a:ext cx="126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680 МБ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44"/>
          <p:cNvSpPr/>
          <p:nvPr/>
        </p:nvSpPr>
        <p:spPr>
          <a:xfrm>
            <a:off x="7571160" y="2212920"/>
            <a:ext cx="4205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Базалық модель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Box 45"/>
          <p:cNvSpPr/>
          <p:nvPr/>
        </p:nvSpPr>
        <p:spPr>
          <a:xfrm>
            <a:off x="7571160" y="2633400"/>
            <a:ext cx="420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Өлшемі: 680 МБ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46"/>
          <p:cNvSpPr/>
          <p:nvPr/>
        </p:nvSpPr>
        <p:spPr>
          <a:xfrm>
            <a:off x="6675120" y="3072240"/>
            <a:ext cx="50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Rectangle 47"/>
          <p:cNvSpPr/>
          <p:nvPr/>
        </p:nvSpPr>
        <p:spPr>
          <a:xfrm>
            <a:off x="6172200" y="3328560"/>
            <a:ext cx="1261440" cy="102384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8" name="TextBox 48"/>
          <p:cNvSpPr/>
          <p:nvPr/>
        </p:nvSpPr>
        <p:spPr>
          <a:xfrm>
            <a:off x="6172200" y="3383280"/>
            <a:ext cx="1261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ONNX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.onnx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49"/>
          <p:cNvSpPr/>
          <p:nvPr/>
        </p:nvSpPr>
        <p:spPr>
          <a:xfrm>
            <a:off x="6172200" y="3895200"/>
            <a:ext cx="126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680 МБ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Box 50"/>
          <p:cNvSpPr/>
          <p:nvPr/>
        </p:nvSpPr>
        <p:spPr>
          <a:xfrm>
            <a:off x="7571160" y="3511440"/>
            <a:ext cx="4205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Кросс-платформа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51"/>
          <p:cNvSpPr/>
          <p:nvPr/>
        </p:nvSpPr>
        <p:spPr>
          <a:xfrm>
            <a:off x="7571160" y="3931920"/>
            <a:ext cx="420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Өлшемі: 680 МБ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52"/>
          <p:cNvSpPr/>
          <p:nvPr/>
        </p:nvSpPr>
        <p:spPr>
          <a:xfrm>
            <a:off x="6675120" y="4370760"/>
            <a:ext cx="502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358e"/>
                </a:solidFill>
                <a:latin typeface="Times New Roman"/>
              </a:rPr>
              <a:t>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53"/>
          <p:cNvSpPr/>
          <p:nvPr/>
        </p:nvSpPr>
        <p:spPr>
          <a:xfrm>
            <a:off x="6172200" y="4626720"/>
            <a:ext cx="1261440" cy="1023840"/>
          </a:xfrm>
          <a:prstGeom prst="rect">
            <a:avLst/>
          </a:prstGeom>
          <a:solidFill>
            <a:srgbClr val="1b87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TextBox 54"/>
          <p:cNvSpPr/>
          <p:nvPr/>
        </p:nvSpPr>
        <p:spPr>
          <a:xfrm>
            <a:off x="6172200" y="4681800"/>
            <a:ext cx="12614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INT8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.onnx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55"/>
          <p:cNvSpPr/>
          <p:nvPr/>
        </p:nvSpPr>
        <p:spPr>
          <a:xfrm>
            <a:off x="6172200" y="5193720"/>
            <a:ext cx="1261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Times New Roman"/>
              </a:rPr>
              <a:t>171 МБ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56"/>
          <p:cNvSpPr/>
          <p:nvPr/>
        </p:nvSpPr>
        <p:spPr>
          <a:xfrm>
            <a:off x="7571160" y="4809600"/>
            <a:ext cx="42058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Times New Roman"/>
              </a:rPr>
              <a:t>4× қысу (optimum)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57"/>
          <p:cNvSpPr/>
          <p:nvPr/>
        </p:nvSpPr>
        <p:spPr>
          <a:xfrm>
            <a:off x="7571160" y="5230440"/>
            <a:ext cx="4205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Өлшемі: 171 МБ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58"/>
          <p:cNvSpPr/>
          <p:nvPr/>
        </p:nvSpPr>
        <p:spPr>
          <a:xfrm>
            <a:off x="6080760" y="5815440"/>
            <a:ext cx="5650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b873e"/>
                </a:solidFill>
                <a:latin typeface="Times New Roman"/>
              </a:rPr>
              <a:t>Нәтиже: CPU-да жергілікті деплой, GPU талап етілмейді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60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61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9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Модель нәтижелері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ectangle 11"/>
          <p:cNvSpPr/>
          <p:nvPr/>
        </p:nvSpPr>
        <p:spPr>
          <a:xfrm>
            <a:off x="274320" y="1463040"/>
            <a:ext cx="2761200" cy="12614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0" name="TextBox 12"/>
          <p:cNvSpPr/>
          <p:nvPr/>
        </p:nvSpPr>
        <p:spPr>
          <a:xfrm>
            <a:off x="274320" y="1517760"/>
            <a:ext cx="276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</a:rPr>
              <a:t>99.9%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3"/>
          <p:cNvSpPr/>
          <p:nvPr/>
        </p:nvSpPr>
        <p:spPr>
          <a:xfrm>
            <a:off x="274320" y="2231280"/>
            <a:ext cx="2761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F1-скор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ctangle 14"/>
          <p:cNvSpPr/>
          <p:nvPr/>
        </p:nvSpPr>
        <p:spPr>
          <a:xfrm>
            <a:off x="3108960" y="1463040"/>
            <a:ext cx="2761200" cy="126144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15"/>
          <p:cNvSpPr/>
          <p:nvPr/>
        </p:nvSpPr>
        <p:spPr>
          <a:xfrm>
            <a:off x="3108960" y="1517760"/>
            <a:ext cx="276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</a:rPr>
              <a:t>99.9%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6"/>
          <p:cNvSpPr/>
          <p:nvPr/>
        </p:nvSpPr>
        <p:spPr>
          <a:xfrm>
            <a:off x="3108960" y="2231280"/>
            <a:ext cx="2761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Accuracy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ectangle 17"/>
          <p:cNvSpPr/>
          <p:nvPr/>
        </p:nvSpPr>
        <p:spPr>
          <a:xfrm>
            <a:off x="5943600" y="1463040"/>
            <a:ext cx="2761200" cy="126144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18"/>
          <p:cNvSpPr/>
          <p:nvPr/>
        </p:nvSpPr>
        <p:spPr>
          <a:xfrm>
            <a:off x="5943600" y="1517760"/>
            <a:ext cx="276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</a:rPr>
              <a:t>99.9%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19"/>
          <p:cNvSpPr/>
          <p:nvPr/>
        </p:nvSpPr>
        <p:spPr>
          <a:xfrm>
            <a:off x="5943600" y="2231280"/>
            <a:ext cx="2761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Precision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20"/>
          <p:cNvSpPr/>
          <p:nvPr/>
        </p:nvSpPr>
        <p:spPr>
          <a:xfrm>
            <a:off x="8778240" y="1463040"/>
            <a:ext cx="2761200" cy="1261440"/>
          </a:xfrm>
          <a:prstGeom prst="rect">
            <a:avLst/>
          </a:prstGeom>
          <a:solidFill>
            <a:srgbClr val="1b87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TextBox 21"/>
          <p:cNvSpPr/>
          <p:nvPr/>
        </p:nvSpPr>
        <p:spPr>
          <a:xfrm>
            <a:off x="8778240" y="1517760"/>
            <a:ext cx="2761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Times New Roman"/>
              </a:rPr>
              <a:t>100%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Box 22"/>
          <p:cNvSpPr/>
          <p:nvPr/>
        </p:nvSpPr>
        <p:spPr>
          <a:xfrm>
            <a:off x="8778240" y="2231280"/>
            <a:ext cx="2761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Recall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 23"/>
          <p:cNvSpPr/>
          <p:nvPr/>
        </p:nvSpPr>
        <p:spPr>
          <a:xfrm>
            <a:off x="274320" y="2907720"/>
            <a:ext cx="5486040" cy="3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Rectangle 24"/>
          <p:cNvSpPr/>
          <p:nvPr/>
        </p:nvSpPr>
        <p:spPr>
          <a:xfrm>
            <a:off x="274320" y="2907720"/>
            <a:ext cx="5486040" cy="3837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TextBox 25"/>
          <p:cNvSpPr/>
          <p:nvPr/>
        </p:nvSpPr>
        <p:spPr>
          <a:xfrm>
            <a:off x="365760" y="2944440"/>
            <a:ext cx="53215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Confusion Matrix — Тест жиынтығы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26"/>
          <p:cNvSpPr/>
          <p:nvPr/>
        </p:nvSpPr>
        <p:spPr>
          <a:xfrm>
            <a:off x="320040" y="340164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27"/>
          <p:cNvSpPr/>
          <p:nvPr/>
        </p:nvSpPr>
        <p:spPr>
          <a:xfrm>
            <a:off x="393120" y="3465720"/>
            <a:ext cx="22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Тест жиыны: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8"/>
          <p:cNvSpPr/>
          <p:nvPr/>
        </p:nvSpPr>
        <p:spPr>
          <a:xfrm>
            <a:off x="2761560" y="3465720"/>
            <a:ext cx="283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6 784 мәтін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ectangle 29"/>
          <p:cNvSpPr/>
          <p:nvPr/>
        </p:nvSpPr>
        <p:spPr>
          <a:xfrm>
            <a:off x="320040" y="387720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TextBox 30"/>
          <p:cNvSpPr/>
          <p:nvPr/>
        </p:nvSpPr>
        <p:spPr>
          <a:xfrm>
            <a:off x="393120" y="3940920"/>
            <a:ext cx="22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Дұрыс жіктелген: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1"/>
          <p:cNvSpPr/>
          <p:nvPr/>
        </p:nvSpPr>
        <p:spPr>
          <a:xfrm>
            <a:off x="2761560" y="3940920"/>
            <a:ext cx="283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6 778 / 6 784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ectangle 32"/>
          <p:cNvSpPr/>
          <p:nvPr/>
        </p:nvSpPr>
        <p:spPr>
          <a:xfrm>
            <a:off x="320040" y="435240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33"/>
          <p:cNvSpPr/>
          <p:nvPr/>
        </p:nvSpPr>
        <p:spPr>
          <a:xfrm>
            <a:off x="393120" y="4416480"/>
            <a:ext cx="22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Қате жіктелген: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34"/>
          <p:cNvSpPr/>
          <p:nvPr/>
        </p:nvSpPr>
        <p:spPr>
          <a:xfrm>
            <a:off x="2761560" y="4416480"/>
            <a:ext cx="283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c0392b"/>
                </a:solidFill>
                <a:latin typeface="Times New Roman"/>
              </a:rPr>
              <a:t>тек 6 мәтін (0.09%)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ectangle 35"/>
          <p:cNvSpPr/>
          <p:nvPr/>
        </p:nvSpPr>
        <p:spPr>
          <a:xfrm>
            <a:off x="320040" y="4827960"/>
            <a:ext cx="53762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4" name="TextBox 36"/>
          <p:cNvSpPr/>
          <p:nvPr/>
        </p:nvSpPr>
        <p:spPr>
          <a:xfrm>
            <a:off x="393120" y="4892040"/>
            <a:ext cx="22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Нақты → нақты: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37"/>
          <p:cNvSpPr/>
          <p:nvPr/>
        </p:nvSpPr>
        <p:spPr>
          <a:xfrm>
            <a:off x="2761560" y="4892040"/>
            <a:ext cx="283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b873e"/>
                </a:solidFill>
                <a:latin typeface="Times New Roman"/>
              </a:rPr>
              <a:t>Дұрыс анықталды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ectangle 38"/>
          <p:cNvSpPr/>
          <p:nvPr/>
        </p:nvSpPr>
        <p:spPr>
          <a:xfrm>
            <a:off x="320040" y="5303520"/>
            <a:ext cx="53762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39"/>
          <p:cNvSpPr/>
          <p:nvPr/>
        </p:nvSpPr>
        <p:spPr>
          <a:xfrm>
            <a:off x="393120" y="5367600"/>
            <a:ext cx="2267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Дезинфо → дезинфо: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40"/>
          <p:cNvSpPr/>
          <p:nvPr/>
        </p:nvSpPr>
        <p:spPr>
          <a:xfrm>
            <a:off x="2761560" y="5367600"/>
            <a:ext cx="283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b873e"/>
                </a:solidFill>
                <a:latin typeface="Times New Roman"/>
              </a:rPr>
              <a:t>Дұрыс анықталды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ectangle 41"/>
          <p:cNvSpPr/>
          <p:nvPr/>
        </p:nvSpPr>
        <p:spPr>
          <a:xfrm>
            <a:off x="5989320" y="2907720"/>
            <a:ext cx="5924880" cy="307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ectangle 42"/>
          <p:cNvSpPr/>
          <p:nvPr/>
        </p:nvSpPr>
        <p:spPr>
          <a:xfrm>
            <a:off x="5989320" y="2907720"/>
            <a:ext cx="5924880" cy="38376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43"/>
          <p:cNvSpPr/>
          <p:nvPr/>
        </p:nvSpPr>
        <p:spPr>
          <a:xfrm>
            <a:off x="6080760" y="2944440"/>
            <a:ext cx="5742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Times New Roman"/>
              </a:rPr>
              <a:t>Инференс жылдамдығы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Rectangle 44"/>
          <p:cNvSpPr/>
          <p:nvPr/>
        </p:nvSpPr>
        <p:spPr>
          <a:xfrm>
            <a:off x="6035040" y="3401640"/>
            <a:ext cx="58334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45"/>
          <p:cNvSpPr/>
          <p:nvPr/>
        </p:nvSpPr>
        <p:spPr>
          <a:xfrm>
            <a:off x="6108120" y="3465720"/>
            <a:ext cx="1718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Медиана: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46"/>
          <p:cNvSpPr/>
          <p:nvPr/>
        </p:nvSpPr>
        <p:spPr>
          <a:xfrm>
            <a:off x="7882200" y="3465720"/>
            <a:ext cx="387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~550 мс  (CPU)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ectangle 47"/>
          <p:cNvSpPr/>
          <p:nvPr/>
        </p:nvSpPr>
        <p:spPr>
          <a:xfrm>
            <a:off x="6035040" y="3877200"/>
            <a:ext cx="58334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48"/>
          <p:cNvSpPr/>
          <p:nvPr/>
        </p:nvSpPr>
        <p:spPr>
          <a:xfrm>
            <a:off x="6108120" y="3940920"/>
            <a:ext cx="1718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P95: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49"/>
          <p:cNvSpPr/>
          <p:nvPr/>
        </p:nvSpPr>
        <p:spPr>
          <a:xfrm>
            <a:off x="7882200" y="3940920"/>
            <a:ext cx="387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~620 мс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ectangle 50"/>
          <p:cNvSpPr/>
          <p:nvPr/>
        </p:nvSpPr>
        <p:spPr>
          <a:xfrm>
            <a:off x="6035040" y="4352400"/>
            <a:ext cx="58334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51"/>
          <p:cNvSpPr/>
          <p:nvPr/>
        </p:nvSpPr>
        <p:spPr>
          <a:xfrm>
            <a:off x="6108120" y="4416480"/>
            <a:ext cx="1718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Модель: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52"/>
          <p:cNvSpPr/>
          <p:nvPr/>
        </p:nvSpPr>
        <p:spPr>
          <a:xfrm>
            <a:off x="7882200" y="4416480"/>
            <a:ext cx="387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INT8 кванттау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Rectangle 53"/>
          <p:cNvSpPr/>
          <p:nvPr/>
        </p:nvSpPr>
        <p:spPr>
          <a:xfrm>
            <a:off x="6035040" y="4827960"/>
            <a:ext cx="5833440" cy="456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TextBox 54"/>
          <p:cNvSpPr/>
          <p:nvPr/>
        </p:nvSpPr>
        <p:spPr>
          <a:xfrm>
            <a:off x="6108120" y="4892040"/>
            <a:ext cx="1718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Провайдер: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Box 55"/>
          <p:cNvSpPr/>
          <p:nvPr/>
        </p:nvSpPr>
        <p:spPr>
          <a:xfrm>
            <a:off x="7882200" y="4892040"/>
            <a:ext cx="387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a1a1a"/>
                </a:solidFill>
                <a:latin typeface="Times New Roman"/>
              </a:rPr>
              <a:t>CPUExecutionProvider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ectangle 56"/>
          <p:cNvSpPr/>
          <p:nvPr/>
        </p:nvSpPr>
        <p:spPr>
          <a:xfrm>
            <a:off x="6035040" y="5303520"/>
            <a:ext cx="5833440" cy="456840"/>
          </a:xfrm>
          <a:prstGeom prst="rect">
            <a:avLst/>
          </a:prstGeom>
          <a:solidFill>
            <a:srgbClr val="eef4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TextBox 57"/>
          <p:cNvSpPr/>
          <p:nvPr/>
        </p:nvSpPr>
        <p:spPr>
          <a:xfrm>
            <a:off x="6108120" y="5367600"/>
            <a:ext cx="1718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358e"/>
                </a:solidFill>
                <a:latin typeface="Times New Roman"/>
              </a:rPr>
              <a:t>GPU болса: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58"/>
          <p:cNvSpPr/>
          <p:nvPr/>
        </p:nvSpPr>
        <p:spPr>
          <a:xfrm>
            <a:off x="7882200" y="5367600"/>
            <a:ext cx="38768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b873e"/>
                </a:solidFill>
                <a:latin typeface="Times New Roman"/>
              </a:rPr>
              <a:t>&lt; 100 мс мүмкін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59"/>
          <p:cNvSpPr/>
          <p:nvPr/>
        </p:nvSpPr>
        <p:spPr>
          <a:xfrm>
            <a:off x="274320" y="5943600"/>
            <a:ext cx="11639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★  </a:t>
            </a: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Синтетикалық тест жиынтығында іс жүзінде мінсіз нәтиже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19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20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10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Веб-қосымша интерфейсі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8" name="Rectangle 11"/>
          <p:cNvSpPr/>
          <p:nvPr/>
        </p:nvSpPr>
        <p:spPr>
          <a:xfrm>
            <a:off x="274320" y="1463040"/>
            <a:ext cx="3821760" cy="2322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438840" y="159120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📝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Мәтін / URL талдау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13"/>
          <p:cNvSpPr/>
          <p:nvPr/>
        </p:nvSpPr>
        <p:spPr>
          <a:xfrm>
            <a:off x="438840" y="206640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Мәтінді немесе мақала сілтемесін енгізіп,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дереу талдаудан өткізу мүмкіндігі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ectangle 14"/>
          <p:cNvSpPr/>
          <p:nvPr/>
        </p:nvSpPr>
        <p:spPr>
          <a:xfrm>
            <a:off x="4251960" y="1463040"/>
            <a:ext cx="3821760" cy="232236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15"/>
          <p:cNvSpPr/>
          <p:nvPr/>
        </p:nvSpPr>
        <p:spPr>
          <a:xfrm>
            <a:off x="4416480" y="159120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📊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Толық есеп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16"/>
          <p:cNvSpPr/>
          <p:nvPr/>
        </p:nvSpPr>
        <p:spPr>
          <a:xfrm>
            <a:off x="4416480" y="206640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ML-скор + 5 ереже модулінің нәтижесі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+ анықталған белгілер тізімі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Rectangle 17"/>
          <p:cNvSpPr/>
          <p:nvPr/>
        </p:nvSpPr>
        <p:spPr>
          <a:xfrm>
            <a:off x="8229600" y="1463040"/>
            <a:ext cx="3821760" cy="232236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5" name="TextBox 18"/>
          <p:cNvSpPr/>
          <p:nvPr/>
        </p:nvSpPr>
        <p:spPr>
          <a:xfrm>
            <a:off x="8394120" y="159120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📚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12 мысал мәтін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19"/>
          <p:cNvSpPr/>
          <p:nvPr/>
        </p:nvSpPr>
        <p:spPr>
          <a:xfrm>
            <a:off x="8394120" y="206640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RU + KZ тілдерінде фейк және нақты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жаңалық үлгілері — тест үшін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Rectangle 20"/>
          <p:cNvSpPr/>
          <p:nvPr/>
        </p:nvSpPr>
        <p:spPr>
          <a:xfrm>
            <a:off x="274320" y="3913560"/>
            <a:ext cx="3821760" cy="2322360"/>
          </a:xfrm>
          <a:prstGeom prst="rect">
            <a:avLst/>
          </a:prstGeom>
          <a:solidFill>
            <a:srgbClr val="0d3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TextBox 21"/>
          <p:cNvSpPr/>
          <p:nvPr/>
        </p:nvSpPr>
        <p:spPr>
          <a:xfrm>
            <a:off x="438840" y="404172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🗄️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PostgreSQL дерекқор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22"/>
          <p:cNvSpPr/>
          <p:nvPr/>
        </p:nvSpPr>
        <p:spPr>
          <a:xfrm>
            <a:off x="438840" y="451728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Барлық талдаулар сақталады, тарихты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қарауға және іздеуге болады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Rectangle 23"/>
          <p:cNvSpPr/>
          <p:nvPr/>
        </p:nvSpPr>
        <p:spPr>
          <a:xfrm>
            <a:off x="4251960" y="3913560"/>
            <a:ext cx="3821760" cy="232236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TextBox 24"/>
          <p:cNvSpPr/>
          <p:nvPr/>
        </p:nvSpPr>
        <p:spPr>
          <a:xfrm>
            <a:off x="4416480" y="404172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🌐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36 домен рейтингі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25"/>
          <p:cNvSpPr/>
          <p:nvPr/>
        </p:nvSpPr>
        <p:spPr>
          <a:xfrm>
            <a:off x="4416480" y="451728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KZ медиа + халықаралық + үгіт-насихат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сайттарының сенімділік рейтингі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ectangle 26"/>
          <p:cNvSpPr/>
          <p:nvPr/>
        </p:nvSpPr>
        <p:spPr>
          <a:xfrm>
            <a:off x="8229600" y="3913560"/>
            <a:ext cx="3821760" cy="2322360"/>
          </a:xfrm>
          <a:prstGeom prst="rect">
            <a:avLst/>
          </a:prstGeom>
          <a:solidFill>
            <a:srgbClr val="173b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4" name="TextBox 27"/>
          <p:cNvSpPr/>
          <p:nvPr/>
        </p:nvSpPr>
        <p:spPr>
          <a:xfrm>
            <a:off x="8394120" y="4041720"/>
            <a:ext cx="3492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🎨 </a:t>
            </a:r>
            <a:r>
              <a:rPr b="1" lang="en-US" sz="1500" spc="-1" strike="noStrike">
                <a:solidFill>
                  <a:srgbClr val="ffffff"/>
                </a:solidFill>
                <a:latin typeface="Times New Roman"/>
              </a:rPr>
              <a:t>Dark UI / Адаптивті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Box 28"/>
          <p:cNvSpPr/>
          <p:nvPr/>
        </p:nvSpPr>
        <p:spPr>
          <a:xfrm>
            <a:off x="8394120" y="4517280"/>
            <a:ext cx="34927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FastAPI + HTMX + адаптивті интерфейс,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Times New Roman"/>
              </a:rPr>
              <a:t>барлық экран өлшемінде жұмыс істейді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47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48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11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Технологиялар стегі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6" name="Rectangle 11"/>
          <p:cNvSpPr/>
          <p:nvPr/>
        </p:nvSpPr>
        <p:spPr>
          <a:xfrm>
            <a:off x="274320" y="1463040"/>
            <a:ext cx="2761200" cy="462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35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Rectangle 12"/>
          <p:cNvSpPr/>
          <p:nvPr/>
        </p:nvSpPr>
        <p:spPr>
          <a:xfrm>
            <a:off x="274320" y="1463040"/>
            <a:ext cx="2761200" cy="45684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13"/>
          <p:cNvSpPr/>
          <p:nvPr/>
        </p:nvSpPr>
        <p:spPr>
          <a:xfrm>
            <a:off x="347400" y="1499760"/>
            <a:ext cx="261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Бэкенд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14"/>
          <p:cNvSpPr/>
          <p:nvPr/>
        </p:nvSpPr>
        <p:spPr>
          <a:xfrm>
            <a:off x="402480" y="2030040"/>
            <a:ext cx="2505240" cy="15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Python 3.12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FastAPI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Uvicorn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PostgreSQL + asyncpg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HTMX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ectangle 15"/>
          <p:cNvSpPr/>
          <p:nvPr/>
        </p:nvSpPr>
        <p:spPr>
          <a:xfrm>
            <a:off x="3163680" y="1463040"/>
            <a:ext cx="2761200" cy="462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5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Rectangle 16"/>
          <p:cNvSpPr/>
          <p:nvPr/>
        </p:nvSpPr>
        <p:spPr>
          <a:xfrm>
            <a:off x="3163680" y="1463040"/>
            <a:ext cx="2761200" cy="456840"/>
          </a:xfrm>
          <a:prstGeom prst="rect">
            <a:avLst/>
          </a:prstGeom>
          <a:solidFill>
            <a:srgbClr val="1e5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17"/>
          <p:cNvSpPr/>
          <p:nvPr/>
        </p:nvSpPr>
        <p:spPr>
          <a:xfrm>
            <a:off x="3237120" y="1499760"/>
            <a:ext cx="261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ML / Инференс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18"/>
          <p:cNvSpPr/>
          <p:nvPr/>
        </p:nvSpPr>
        <p:spPr>
          <a:xfrm>
            <a:off x="3291840" y="2030040"/>
            <a:ext cx="2505240" cy="12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HuggingFace Transformers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ONNX Runtime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Optimum (INT8)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PyTorch (оқыту)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ectangle 19"/>
          <p:cNvSpPr/>
          <p:nvPr/>
        </p:nvSpPr>
        <p:spPr>
          <a:xfrm>
            <a:off x="6053400" y="1463040"/>
            <a:ext cx="2761200" cy="462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54b7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Rectangle 20"/>
          <p:cNvSpPr/>
          <p:nvPr/>
        </p:nvSpPr>
        <p:spPr>
          <a:xfrm>
            <a:off x="6053400" y="1463040"/>
            <a:ext cx="2761200" cy="456840"/>
          </a:xfrm>
          <a:prstGeom prst="rect">
            <a:avLst/>
          </a:prstGeom>
          <a:solidFill>
            <a:srgbClr val="154b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TextBox 21"/>
          <p:cNvSpPr/>
          <p:nvPr/>
        </p:nvSpPr>
        <p:spPr>
          <a:xfrm>
            <a:off x="6126480" y="1499760"/>
            <a:ext cx="261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Оқыту орны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22"/>
          <p:cNvSpPr/>
          <p:nvPr/>
        </p:nvSpPr>
        <p:spPr>
          <a:xfrm>
            <a:off x="6181200" y="2030040"/>
            <a:ext cx="2505240" cy="12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Google Colab T4 GPU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Google Drive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Datasets (HF)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scikit-learn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Rectangle 23"/>
          <p:cNvSpPr/>
          <p:nvPr/>
        </p:nvSpPr>
        <p:spPr>
          <a:xfrm>
            <a:off x="8942760" y="1463040"/>
            <a:ext cx="2761200" cy="4626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3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9" name="Rectangle 24"/>
          <p:cNvSpPr/>
          <p:nvPr/>
        </p:nvSpPr>
        <p:spPr>
          <a:xfrm>
            <a:off x="8942760" y="1463040"/>
            <a:ext cx="2761200" cy="456840"/>
          </a:xfrm>
          <a:prstGeom prst="rect">
            <a:avLst/>
          </a:prstGeom>
          <a:solidFill>
            <a:srgbClr val="0d3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TextBox 25"/>
          <p:cNvSpPr/>
          <p:nvPr/>
        </p:nvSpPr>
        <p:spPr>
          <a:xfrm>
            <a:off x="9015840" y="1499760"/>
            <a:ext cx="2614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Деректер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26"/>
          <p:cNvSpPr/>
          <p:nvPr/>
        </p:nvSpPr>
        <p:spPr>
          <a:xfrm>
            <a:off x="9070920" y="2030040"/>
            <a:ext cx="2505240" cy="12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36 KZ/RU домен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120 KZ тақырыбы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6 аугментация әдісі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01"/>
              </a:spcBef>
            </a:pP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◆  </a:t>
            </a:r>
            <a:r>
              <a:rPr b="0" lang="en-US" sz="1350" spc="-1" strike="noStrike">
                <a:solidFill>
                  <a:srgbClr val="1a1a1a"/>
                </a:solidFill>
                <a:latin typeface="Times New Roman"/>
              </a:rPr>
              <a:t>45 221 мәтін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73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74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12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8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9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Шектеулер және болашақ жоспарлар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Rectangle 11"/>
          <p:cNvSpPr/>
          <p:nvPr/>
        </p:nvSpPr>
        <p:spPr>
          <a:xfrm>
            <a:off x="274320" y="1463040"/>
            <a:ext cx="5486040" cy="462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Rectangle 12"/>
          <p:cNvSpPr/>
          <p:nvPr/>
        </p:nvSpPr>
        <p:spPr>
          <a:xfrm>
            <a:off x="274320" y="1463040"/>
            <a:ext cx="5486040" cy="42012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TextBox 13"/>
          <p:cNvSpPr/>
          <p:nvPr/>
        </p:nvSpPr>
        <p:spPr>
          <a:xfrm>
            <a:off x="365760" y="1499760"/>
            <a:ext cx="5321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⚠  </a:t>
            </a: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Ағымдағы шектеулер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14"/>
          <p:cNvSpPr/>
          <p:nvPr/>
        </p:nvSpPr>
        <p:spPr>
          <a:xfrm>
            <a:off x="384120" y="1993320"/>
            <a:ext cx="5248440" cy="16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✗  </a:t>
            </a: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Тек RU + KZ — ағылшын тілі жоқ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✗  </a:t>
            </a: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Синтетикалық деректер — нақты KZ жаңалықтары аз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✗  </a:t>
            </a: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CPU инференс ~550 мс — реалтайм үшін баяу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✗  </a:t>
            </a: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URL талдауы — барлық сайт қолданылмайды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✗  </a:t>
            </a:r>
            <a:r>
              <a:rPr b="0" lang="en-US" sz="1400" spc="-1" strike="noStrike">
                <a:solidFill>
                  <a:srgbClr val="c0392b"/>
                </a:solidFill>
                <a:latin typeface="Times New Roman"/>
              </a:rPr>
              <a:t>Қысқа мәтін (&lt;30 сөз) — сенімділік төмен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 15"/>
          <p:cNvSpPr/>
          <p:nvPr/>
        </p:nvSpPr>
        <p:spPr>
          <a:xfrm>
            <a:off x="5989320" y="1463040"/>
            <a:ext cx="5924880" cy="462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b873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Rectangle 16"/>
          <p:cNvSpPr/>
          <p:nvPr/>
        </p:nvSpPr>
        <p:spPr>
          <a:xfrm>
            <a:off x="5989320" y="1463040"/>
            <a:ext cx="5924880" cy="420120"/>
          </a:xfrm>
          <a:prstGeom prst="rect">
            <a:avLst/>
          </a:prstGeom>
          <a:solidFill>
            <a:srgbClr val="1b87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17"/>
          <p:cNvSpPr/>
          <p:nvPr/>
        </p:nvSpPr>
        <p:spPr>
          <a:xfrm>
            <a:off x="6080760" y="1499760"/>
            <a:ext cx="5742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Times New Roman"/>
              </a:rPr>
              <a:t>Болашақ жоспарлар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18"/>
          <p:cNvSpPr/>
          <p:nvPr/>
        </p:nvSpPr>
        <p:spPr>
          <a:xfrm>
            <a:off x="6099120" y="1993320"/>
            <a:ext cx="5650560" cy="166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→  </a:t>
            </a: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Нақты KZ жаңалықтарымен қайта оқыту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→  </a:t>
            </a: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XLM-RoBERTa — көптілді модель (EN қосу)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→  </a:t>
            </a: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GPU деплой — инференсті &lt;100 мс жылдамдату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→  </a:t>
            </a: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БАҚ және фактчек ұйымдары үшін REST API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→  </a:t>
            </a:r>
            <a:r>
              <a:rPr b="0" lang="en-US" sz="1400" spc="-1" strike="noStrike">
                <a:solidFill>
                  <a:srgbClr val="1b873e"/>
                </a:solidFill>
                <a:latin typeface="Times New Roman"/>
              </a:rPr>
              <a:t>Браузер плагині — тікелей тексеру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Rectangle 1"/>
          <p:cNvSpPr/>
          <p:nvPr/>
        </p:nvSpPr>
        <p:spPr>
          <a:xfrm>
            <a:off x="0" y="0"/>
            <a:ext cx="12188520" cy="54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91" name="Picture 2" descr="logo_fit.png"/>
          <p:cNvPicPr/>
          <p:nvPr/>
        </p:nvPicPr>
        <p:blipFill>
          <a:blip r:embed="rId1"/>
          <a:stretch/>
        </p:blipFill>
        <p:spPr>
          <a:xfrm>
            <a:off x="182880" y="914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92" name="TextBox 3"/>
          <p:cNvSpPr/>
          <p:nvPr/>
        </p:nvSpPr>
        <p:spPr>
          <a:xfrm>
            <a:off x="868680" y="118800"/>
            <a:ext cx="868644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358e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4"/>
          <p:cNvSpPr/>
          <p:nvPr/>
        </p:nvSpPr>
        <p:spPr>
          <a:xfrm>
            <a:off x="868680" y="384120"/>
            <a:ext cx="86864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00358e"/>
                </a:solidFill>
                <a:latin typeface="Times New Roman"/>
              </a:rPr>
              <a:t>Ақпараттық технологиялар факультеті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5"/>
          <p:cNvSpPr/>
          <p:nvPr/>
        </p:nvSpPr>
        <p:spPr>
          <a:xfrm>
            <a:off x="11247120" y="164520"/>
            <a:ext cx="822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6578"/>
                </a:solidFill>
                <a:latin typeface="Times New Roman"/>
              </a:rPr>
              <a:t>13 / 14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ectangle 6"/>
          <p:cNvSpPr/>
          <p:nvPr/>
        </p:nvSpPr>
        <p:spPr>
          <a:xfrm>
            <a:off x="0" y="731520"/>
            <a:ext cx="12188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7"/>
          <p:cNvSpPr/>
          <p:nvPr/>
        </p:nvSpPr>
        <p:spPr>
          <a:xfrm>
            <a:off x="0" y="6583680"/>
            <a:ext cx="12188520" cy="2739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8"/>
          <p:cNvSpPr/>
          <p:nvPr/>
        </p:nvSpPr>
        <p:spPr>
          <a:xfrm>
            <a:off x="274320" y="6602040"/>
            <a:ext cx="116398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ffffff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9"/>
          <p:cNvSpPr/>
          <p:nvPr/>
        </p:nvSpPr>
        <p:spPr>
          <a:xfrm>
            <a:off x="320040" y="804600"/>
            <a:ext cx="11521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58e"/>
                </a:solidFill>
                <a:latin typeface="Times New Roman"/>
              </a:rPr>
              <a:t>Қорытынды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Rectangle 10"/>
          <p:cNvSpPr/>
          <p:nvPr/>
        </p:nvSpPr>
        <p:spPr>
          <a:xfrm>
            <a:off x="320040" y="1334880"/>
            <a:ext cx="11521080" cy="27000"/>
          </a:xfrm>
          <a:prstGeom prst="rect">
            <a:avLst/>
          </a:prstGeom>
          <a:solidFill>
            <a:srgbClr val="d6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Conclusions"/>
          <p:cNvSpPr/>
          <p:nvPr/>
        </p:nvSpPr>
        <p:spPr>
          <a:xfrm>
            <a:off x="320040" y="1429920"/>
            <a:ext cx="11521080" cy="35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Гибридті дезинформация жүйесі табысты іске асырылды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ML (ruBert-base, 60%) және бес ережелер модулін (40%) біріктіретін weighted scoring архитектурасы жасалды.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Қазақстанға арнайы екітілді деректер жиыны дайындалды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120 KZ-тақырыбын (Акорда, теңге, ҰҚК, Байқоңыр т.б.) қамтитын орыс және қазақ тілдерінде нақты мәтіндер жинақталды.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Модель жоғары дәлдікпен оқытылды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ruBert-base KZ деректерінде баптауден өтіп, тест жиынтығында іс жүзінде мінсіз жіктеу нәтижесін көрсетті.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Модель жергілікті деплойға оңтайландырылды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ONNX экспорты және INT8 кванттау арқылы модель төрт есе кішірейтіліп, GPU-сыз CPU-да жұмыс жасайтын болды.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Толық функционалды веб-қосымша жасалды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FastAPI + PostgreSQL негізінде мәтін мен URL талдайтын, барлық нәтижелерді сақтайтын және іздеуге мүмкіндік беретін жүйе іске асырылды.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ts val="2001"/>
              </a:lnSpc>
              <a:spcAft>
                <a:spcPts val="601"/>
              </a:spcAft>
              <a:buClr>
                <a:srgbClr val="00358e"/>
              </a:buClr>
              <a:buFont typeface="Wingdings" charset="2"/>
              <a:buChar char=""/>
            </a:pPr>
            <a:r>
              <a:rPr b="1" lang="ru-RU" sz="1400" spc="-1" strike="noStrike">
                <a:solidFill>
                  <a:srgbClr val="00358e"/>
                </a:solidFill>
                <a:latin typeface="Times New Roman"/>
              </a:rPr>
              <a:t>Жүйе Қазақстан медиакеңістігі үшін нақты қолданбалы мән береді — </a:t>
            </a:r>
            <a:r>
              <a:rPr b="0" lang="ru-RU" sz="1400" spc="-1" strike="noStrike">
                <a:solidFill>
                  <a:srgbClr val="1a1a1a"/>
                </a:solidFill>
                <a:latin typeface="Times New Roman"/>
              </a:rPr>
              <a:t>бұл Қазақстанның жергілікті тақырыптарын, медиа дереккөздерін және екітілді ортасын ескеретін алғашқы арнайы дезинформация анықтау жүйесі.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31"/>
          <p:cNvSpPr/>
          <p:nvPr/>
        </p:nvSpPr>
        <p:spPr>
          <a:xfrm>
            <a:off x="274320" y="6455520"/>
            <a:ext cx="11639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556578"/>
                </a:solidFill>
                <a:latin typeface="Times New Roman"/>
              </a:rPr>
              <a:t>ruBert-base  ·  FastAPI  ·  ONNX  ·  PostgreSQL  ·  Қазақстан  —  2026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Rectangle 2"/>
          <p:cNvSpPr/>
          <p:nvPr/>
        </p:nvSpPr>
        <p:spPr>
          <a:xfrm>
            <a:off x="0" y="0"/>
            <a:ext cx="12188520" cy="45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Rectangle 3"/>
          <p:cNvSpPr/>
          <p:nvPr/>
        </p:nvSpPr>
        <p:spPr>
          <a:xfrm>
            <a:off x="0" y="6812280"/>
            <a:ext cx="12188520" cy="4536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5" name="Picture 4" descr="logo_farabi.jpg"/>
          <p:cNvPicPr/>
          <p:nvPr/>
        </p:nvPicPr>
        <p:blipFill>
          <a:blip r:embed="rId1"/>
          <a:stretch/>
        </p:blipFill>
        <p:spPr>
          <a:xfrm>
            <a:off x="457200" y="109800"/>
            <a:ext cx="877320" cy="877320"/>
          </a:xfrm>
          <a:prstGeom prst="rect">
            <a:avLst/>
          </a:prstGeom>
          <a:ln w="0">
            <a:noFill/>
          </a:ln>
        </p:spPr>
      </p:pic>
      <p:pic>
        <p:nvPicPr>
          <p:cNvPr id="506" name="Picture 5" descr="logo_fit.png"/>
          <p:cNvPicPr/>
          <p:nvPr/>
        </p:nvPicPr>
        <p:blipFill>
          <a:blip r:embed="rId2"/>
          <a:stretch/>
        </p:blipFill>
        <p:spPr>
          <a:xfrm>
            <a:off x="10854000" y="109800"/>
            <a:ext cx="877320" cy="877320"/>
          </a:xfrm>
          <a:prstGeom prst="rect">
            <a:avLst/>
          </a:prstGeom>
          <a:ln w="0">
            <a:noFill/>
          </a:ln>
        </p:spPr>
      </p:pic>
      <p:sp>
        <p:nvSpPr>
          <p:cNvPr id="507" name="TextBox 6"/>
          <p:cNvSpPr/>
          <p:nvPr/>
        </p:nvSpPr>
        <p:spPr>
          <a:xfrm>
            <a:off x="1417320" y="146160"/>
            <a:ext cx="93538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Times New Roman"/>
              </a:rPr>
              <a:t>Әл-Фараби атындағы Қазақ ұлттық университеті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7"/>
          <p:cNvSpPr/>
          <p:nvPr/>
        </p:nvSpPr>
        <p:spPr>
          <a:xfrm>
            <a:off x="1417320" y="475560"/>
            <a:ext cx="93538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Times New Roman"/>
              </a:rPr>
              <a:t>Ақпараттық технологиялар факультеті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ectangle 8"/>
          <p:cNvSpPr/>
          <p:nvPr/>
        </p:nvSpPr>
        <p:spPr>
          <a:xfrm>
            <a:off x="2286000" y="1005840"/>
            <a:ext cx="7616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TextBox 9"/>
          <p:cNvSpPr/>
          <p:nvPr/>
        </p:nvSpPr>
        <p:spPr>
          <a:xfrm>
            <a:off x="457200" y="1261800"/>
            <a:ext cx="112741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00358e"/>
                </a:solidFill>
                <a:latin typeface="Times New Roman"/>
              </a:rPr>
              <a:t>Назарларыңызға рахмет!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Rectangle 10"/>
          <p:cNvSpPr/>
          <p:nvPr/>
        </p:nvSpPr>
        <p:spPr>
          <a:xfrm>
            <a:off x="2286000" y="2395800"/>
            <a:ext cx="7616520" cy="27000"/>
          </a:xfrm>
          <a:prstGeom prst="rect">
            <a:avLst/>
          </a:prstGeom>
          <a:solidFill>
            <a:srgbClr val="0035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TextBox 11"/>
          <p:cNvSpPr/>
          <p:nvPr/>
        </p:nvSpPr>
        <p:spPr>
          <a:xfrm>
            <a:off x="457200" y="2578680"/>
            <a:ext cx="11274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000" spc="-1" strike="noStrike">
                <a:solidFill>
                  <a:srgbClr val="556578"/>
                </a:solidFill>
                <a:latin typeface="Times New Roman"/>
              </a:rPr>
              <a:t>Сұрақтарыңызға жауап беруге дайынмын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Box 12"/>
          <p:cNvSpPr/>
          <p:nvPr/>
        </p:nvSpPr>
        <p:spPr>
          <a:xfrm>
            <a:off x="457200" y="3657600"/>
            <a:ext cx="1127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Тақырып: Ережелер мен маңызды белгілерге негізделген әлеуметтік желілердегі жалған ақпаратты анықтау және сүзу үшін веб-жүйені әзірлеу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Box 13"/>
          <p:cNvSpPr/>
          <p:nvPr/>
        </p:nvSpPr>
        <p:spPr>
          <a:xfrm>
            <a:off x="457200" y="4206240"/>
            <a:ext cx="1127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Ғылыми жетекші: Нарбаева С.М.  |  Алматы, 2026 ж.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14"/>
          <p:cNvSpPr/>
          <p:nvPr/>
        </p:nvSpPr>
        <p:spPr>
          <a:xfrm>
            <a:off x="457200" y="4754880"/>
            <a:ext cx="11274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1a1a1a"/>
                </a:solidFill>
                <a:latin typeface="Times New Roman"/>
              </a:rPr>
              <a:t>Стек: ruBert-base · FastAPI · ONNX · INT8 · PostgreSQL · KZ+RU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2026-03-31T19:33:31Z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