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447AD4C-301B-4B21-BE57-67F1A3997D1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80352FA-56C7-480D-B10A-A07102F3C7F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DC5AB2-1B9A-4466-86ED-4E3D167D086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8DBD09-7495-4D8C-82EE-EDE30C2F8BD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091799-C806-48D3-8587-5116C21A8EF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61D2A5-0F37-47DE-BAB2-7CAD4915509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0AA666-6FD1-467F-ADAF-24F8E0B6FD8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2AF1BE-5965-4652-BBE1-CC06A712BEA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B9A001-EDB6-40A8-B63B-8909552F6BA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ED7192-9D00-4025-80FE-7B45CFD400D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471EE4-A4D9-427E-8626-CEAF1043D0A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Trebuchet MS"/>
                <a:ea typeface="Trebuchet MS"/>
              </a:rPr>
              <a:t>ДЕЗИНФОРМАЦИЯНЫ АНЫҚТАУ ЖҮЙЕСІ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65760" y="914400"/>
            <a:ext cx="64004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a2342"/>
                </a:solidFill>
                <a:latin typeface="Trebuchet MS"/>
                <a:ea typeface="Trebuchet MS"/>
              </a:rPr>
              <a:t>ҚАЗАҚСТАН БАҚ-ЫНДАҒЫ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a2342"/>
                </a:solidFill>
                <a:latin typeface="Trebuchet MS"/>
                <a:ea typeface="Trebuchet MS"/>
              </a:rPr>
              <a:t>ДЕЗИНФОРМАЦИЯНЫ АНЫҚТАУ ЖҮЙЕСІ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65760" y="2331720"/>
            <a:ext cx="6400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64748b"/>
                </a:solidFill>
                <a:latin typeface="Calibri"/>
                <a:ea typeface="Calibri"/>
              </a:rPr>
              <a:t>Машиналық оқыту мен лингвистикалық ережелер негізінде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365760" y="3017520"/>
            <a:ext cx="3840120" cy="3636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65760" y="31546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d7e8a"/>
                </a:solidFill>
                <a:latin typeface="Calibri"/>
                <a:ea typeface="Calibri"/>
              </a:rPr>
              <a:t>ruBert-base  ·  FastAPI  ·  ONNX  ·  Қазақ және орыс тілдері 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6858000" y="822960"/>
            <a:ext cx="1965600" cy="4023000"/>
          </a:xfrm>
          <a:prstGeom prst="rect">
            <a:avLst/>
          </a:prstGeom>
          <a:solidFill>
            <a:srgbClr val="0d7e8a">
              <a:alpha val="10000"/>
            </a:srgbClr>
          </a:solidFill>
          <a:ln w="12700">
            <a:solidFill>
              <a:srgbClr val="0d7e8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7772400" y="822960"/>
            <a:ext cx="1051200" cy="4023000"/>
          </a:xfrm>
          <a:prstGeom prst="rect">
            <a:avLst/>
          </a:prstGeom>
          <a:solidFill>
            <a:srgbClr val="0d7e8a">
              <a:alpha val="20000"/>
            </a:srgbClr>
          </a:solidFill>
          <a:ln w="12700">
            <a:solidFill>
              <a:srgbClr val="0d7e8a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Trebuchet MS"/>
                <a:ea typeface="Trebuchet MS"/>
              </a:rPr>
              <a:t>МӘСЕЛЕ ЖӘНЕ МАҚСАТ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2"/>
          <p:cNvSpPr/>
          <p:nvPr/>
        </p:nvSpPr>
        <p:spPr>
          <a:xfrm>
            <a:off x="320040" y="914400"/>
            <a:ext cx="38401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320040" y="914400"/>
            <a:ext cx="109440" cy="388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4"/>
          <p:cNvSpPr/>
          <p:nvPr/>
        </p:nvSpPr>
        <p:spPr>
          <a:xfrm>
            <a:off x="548640" y="102420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e293b"/>
                </a:solidFill>
                <a:latin typeface="Trebuchet MS"/>
                <a:ea typeface="Trebuchet MS"/>
              </a:rPr>
              <a:t>Мәселе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548640" y="1481400"/>
            <a:ext cx="3474360" cy="31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Қазақстан медиакеңістігіндегі дезинформация ағыны жыл сайын өсуде.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Қоғам орыс және қазақ тілдерінде жұмыс жасайды — бұл автоматтандырылған талдауды айтарлықтай қиындатады.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Болыстық деңгейде дезинформацияны анықтайтын арнайы KZ-контекстік құралдар жоқ.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Жалған жаңалықтар саяси, экономикалық және қоғамдық зиян тигізеді.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6"/>
          <p:cNvSpPr/>
          <p:nvPr/>
        </p:nvSpPr>
        <p:spPr>
          <a:xfrm>
            <a:off x="4983480" y="914400"/>
            <a:ext cx="38401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7"/>
          <p:cNvSpPr/>
          <p:nvPr/>
        </p:nvSpPr>
        <p:spPr>
          <a:xfrm>
            <a:off x="4983480" y="914400"/>
            <a:ext cx="109440" cy="388584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8"/>
          <p:cNvSpPr/>
          <p:nvPr/>
        </p:nvSpPr>
        <p:spPr>
          <a:xfrm>
            <a:off x="5212080" y="102420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e293b"/>
                </a:solidFill>
                <a:latin typeface="Trebuchet MS"/>
                <a:ea typeface="Trebuchet MS"/>
              </a:rPr>
              <a:t>Мақсат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9"/>
          <p:cNvSpPr/>
          <p:nvPr/>
        </p:nvSpPr>
        <p:spPr>
          <a:xfrm>
            <a:off x="5212080" y="1645920"/>
            <a:ext cx="127800" cy="12780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0"/>
          <p:cNvSpPr/>
          <p:nvPr/>
        </p:nvSpPr>
        <p:spPr>
          <a:xfrm>
            <a:off x="5413320" y="157284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Гибридті жүйе жасау — ML + ережелер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11"/>
          <p:cNvSpPr/>
          <p:nvPr/>
        </p:nvSpPr>
        <p:spPr>
          <a:xfrm>
            <a:off x="5212080" y="2139840"/>
            <a:ext cx="127800" cy="12780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2"/>
          <p:cNvSpPr/>
          <p:nvPr/>
        </p:nvSpPr>
        <p:spPr>
          <a:xfrm>
            <a:off x="5413320" y="206640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RU + KZ екітілді қолдау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13"/>
          <p:cNvSpPr/>
          <p:nvPr/>
        </p:nvSpPr>
        <p:spPr>
          <a:xfrm>
            <a:off x="5212080" y="2633400"/>
            <a:ext cx="127800" cy="12780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14"/>
          <p:cNvSpPr/>
          <p:nvPr/>
        </p:nvSpPr>
        <p:spPr>
          <a:xfrm>
            <a:off x="5413320" y="256032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45 000+ мәтін деректер жиынын дайындау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15"/>
          <p:cNvSpPr/>
          <p:nvPr/>
        </p:nvSpPr>
        <p:spPr>
          <a:xfrm>
            <a:off x="5212080" y="3127320"/>
            <a:ext cx="127800" cy="12780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16"/>
          <p:cNvSpPr/>
          <p:nvPr/>
        </p:nvSpPr>
        <p:spPr>
          <a:xfrm>
            <a:off x="5413320" y="305424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ruBert-base моделін баптау (fine-tune)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17"/>
          <p:cNvSpPr/>
          <p:nvPr/>
        </p:nvSpPr>
        <p:spPr>
          <a:xfrm>
            <a:off x="5212080" y="3620880"/>
            <a:ext cx="127800" cy="12780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18"/>
          <p:cNvSpPr/>
          <p:nvPr/>
        </p:nvSpPr>
        <p:spPr>
          <a:xfrm>
            <a:off x="5413320" y="354780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FastAPI веб-қосымшасын іске асыру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Trebuchet MS"/>
                <a:ea typeface="Trebuchet MS"/>
              </a:rPr>
              <a:t>ЖҮЙЕ АРХИТЕКТУРАСЫ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2"/>
          <p:cNvSpPr/>
          <p:nvPr/>
        </p:nvSpPr>
        <p:spPr>
          <a:xfrm>
            <a:off x="320040" y="914400"/>
            <a:ext cx="4114440" cy="2011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3"/>
          <p:cNvSpPr/>
          <p:nvPr/>
        </p:nvSpPr>
        <p:spPr>
          <a:xfrm>
            <a:off x="320040" y="914400"/>
            <a:ext cx="109440" cy="201132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548640" y="10058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d7e8a"/>
                </a:solidFill>
                <a:latin typeface="Trebuchet MS"/>
                <a:ea typeface="Trebuchet MS"/>
              </a:rPr>
              <a:t>ML-модель — 60%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5"/>
          <p:cNvSpPr/>
          <p:nvPr/>
        </p:nvSpPr>
        <p:spPr>
          <a:xfrm>
            <a:off x="548640" y="1444680"/>
            <a:ext cx="3657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ruBert-base (178М параметр)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KZ деректерінде fine-tuned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ONNX + INT8 кванттау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Инференс: ~550 мс (CPU)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6"/>
          <p:cNvSpPr/>
          <p:nvPr/>
        </p:nvSpPr>
        <p:spPr>
          <a:xfrm>
            <a:off x="4754880" y="914400"/>
            <a:ext cx="4068720" cy="2011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7"/>
          <p:cNvSpPr/>
          <p:nvPr/>
        </p:nvSpPr>
        <p:spPr>
          <a:xfrm>
            <a:off x="4754880" y="914400"/>
            <a:ext cx="109440" cy="2011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4983480" y="10058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d97706"/>
                </a:solidFill>
                <a:latin typeface="Trebuchet MS"/>
                <a:ea typeface="Trebuchet MS"/>
              </a:rPr>
              <a:t>Ережелер жүйесі — 40%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9"/>
          <p:cNvSpPr/>
          <p:nvPr/>
        </p:nvSpPr>
        <p:spPr>
          <a:xfrm>
            <a:off x="4983480" y="1444680"/>
            <a:ext cx="3657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1. Кликбейт — 28 үлгі (RU+KZ)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2. Лингвистика — эмоциялық лексика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3. Дереккөз — 36 домен рейтингі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4. Құрылым — ұзындық, деректер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5. Фактчек — Google API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320040" y="3154680"/>
            <a:ext cx="8503560" cy="1645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320040" y="3154680"/>
            <a:ext cx="109440" cy="1645560"/>
          </a:xfrm>
          <a:prstGeom prst="rect">
            <a:avLst/>
          </a:prstGeom>
          <a:solidFill>
            <a:srgbClr val="1a3f6f"/>
          </a:solidFill>
          <a:ln w="1270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548640" y="32461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f6f"/>
                </a:solidFill>
                <a:latin typeface="Trebuchet MS"/>
                <a:ea typeface="Trebuchet MS"/>
              </a:rPr>
              <a:t>FastAPI веб-қосымшасы — деректер ағыны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13"/>
          <p:cNvSpPr/>
          <p:nvPr/>
        </p:nvSpPr>
        <p:spPr>
          <a:xfrm>
            <a:off x="548640" y="3703320"/>
            <a:ext cx="1481040" cy="822600"/>
          </a:xfrm>
          <a:prstGeom prst="rect">
            <a:avLst/>
          </a:prstGeom>
          <a:solidFill>
            <a:srgbClr val="0d7e8a">
              <a:alpha val="12000"/>
            </a:srgbClr>
          </a:solidFill>
          <a:ln w="1524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548640" y="374904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7e8a"/>
                </a:solidFill>
                <a:latin typeface="Trebuchet MS"/>
                <a:ea typeface="Trebuchet MS"/>
              </a:rPr>
              <a:t>① </a:t>
            </a:r>
            <a:r>
              <a:rPr b="1" lang="en-US" sz="1100" spc="-1" strike="noStrike">
                <a:solidFill>
                  <a:srgbClr val="0d7e8a"/>
                </a:solidFill>
                <a:latin typeface="Trebuchet MS"/>
                <a:ea typeface="Trebuchet MS"/>
              </a:rPr>
              <a:t>Кіріс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15"/>
          <p:cNvSpPr/>
          <p:nvPr/>
        </p:nvSpPr>
        <p:spPr>
          <a:xfrm>
            <a:off x="548640" y="411480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Мәтін немесе URL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16"/>
          <p:cNvSpPr/>
          <p:nvPr/>
        </p:nvSpPr>
        <p:spPr>
          <a:xfrm>
            <a:off x="2212920" y="3703320"/>
            <a:ext cx="1481040" cy="822600"/>
          </a:xfrm>
          <a:prstGeom prst="rect">
            <a:avLst/>
          </a:prstGeom>
          <a:solidFill>
            <a:srgbClr val="d97706">
              <a:alpha val="12000"/>
            </a:srgbClr>
          </a:solidFill>
          <a:ln w="1524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17"/>
          <p:cNvSpPr/>
          <p:nvPr/>
        </p:nvSpPr>
        <p:spPr>
          <a:xfrm>
            <a:off x="2212920" y="374904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d97706"/>
                </a:solidFill>
                <a:latin typeface="Trebuchet MS"/>
                <a:ea typeface="Trebuchet MS"/>
              </a:rPr>
              <a:t>② </a:t>
            </a:r>
            <a:r>
              <a:rPr b="1" lang="en-US" sz="1100" spc="-1" strike="noStrike">
                <a:solidFill>
                  <a:srgbClr val="d97706"/>
                </a:solidFill>
                <a:latin typeface="Trebuchet MS"/>
                <a:ea typeface="Trebuchet MS"/>
              </a:rPr>
              <a:t>Талдау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2212920" y="411480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ML + 5 ереже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19"/>
          <p:cNvSpPr/>
          <p:nvPr/>
        </p:nvSpPr>
        <p:spPr>
          <a:xfrm>
            <a:off x="3877200" y="3703320"/>
            <a:ext cx="1481040" cy="822600"/>
          </a:xfrm>
          <a:prstGeom prst="rect">
            <a:avLst/>
          </a:prstGeom>
          <a:solidFill>
            <a:srgbClr val="1a3f6f">
              <a:alpha val="12000"/>
            </a:srgbClr>
          </a:solidFill>
          <a:ln w="1524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3877200" y="374904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3f6f"/>
                </a:solidFill>
                <a:latin typeface="Trebuchet MS"/>
                <a:ea typeface="Trebuchet MS"/>
              </a:rPr>
              <a:t>③ </a:t>
            </a:r>
            <a:r>
              <a:rPr b="1" lang="en-US" sz="1100" spc="-1" strike="noStrike">
                <a:solidFill>
                  <a:srgbClr val="1a3f6f"/>
                </a:solidFill>
                <a:latin typeface="Trebuchet MS"/>
                <a:ea typeface="Trebuchet MS"/>
              </a:rPr>
              <a:t>Скор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3877200" y="411480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Weighted 60/40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2"/>
          <p:cNvSpPr/>
          <p:nvPr/>
        </p:nvSpPr>
        <p:spPr>
          <a:xfrm>
            <a:off x="5541120" y="3703320"/>
            <a:ext cx="1481040" cy="822600"/>
          </a:xfrm>
          <a:prstGeom prst="rect">
            <a:avLst/>
          </a:prstGeom>
          <a:solidFill>
            <a:srgbClr val="059669">
              <a:alpha val="12000"/>
            </a:srgbClr>
          </a:solidFill>
          <a:ln w="1524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23"/>
          <p:cNvSpPr/>
          <p:nvPr/>
        </p:nvSpPr>
        <p:spPr>
          <a:xfrm>
            <a:off x="5541120" y="374904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59669"/>
                </a:solidFill>
                <a:latin typeface="Trebuchet MS"/>
                <a:ea typeface="Trebuchet MS"/>
              </a:rPr>
              <a:t>④ </a:t>
            </a:r>
            <a:r>
              <a:rPr b="1" lang="en-US" sz="1100" spc="-1" strike="noStrike">
                <a:solidFill>
                  <a:srgbClr val="059669"/>
                </a:solidFill>
                <a:latin typeface="Trebuchet MS"/>
                <a:ea typeface="Trebuchet MS"/>
              </a:rPr>
              <a:t>Вердикт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24"/>
          <p:cNvSpPr/>
          <p:nvPr/>
        </p:nvSpPr>
        <p:spPr>
          <a:xfrm>
            <a:off x="5541120" y="411480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Толық есеп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25"/>
          <p:cNvSpPr/>
          <p:nvPr/>
        </p:nvSpPr>
        <p:spPr>
          <a:xfrm>
            <a:off x="7205400" y="3703320"/>
            <a:ext cx="1481040" cy="822600"/>
          </a:xfrm>
          <a:prstGeom prst="rect">
            <a:avLst/>
          </a:prstGeom>
          <a:solidFill>
            <a:srgbClr val="64748b">
              <a:alpha val="12000"/>
            </a:srgbClr>
          </a:solidFill>
          <a:ln w="1524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26"/>
          <p:cNvSpPr/>
          <p:nvPr/>
        </p:nvSpPr>
        <p:spPr>
          <a:xfrm>
            <a:off x="7205400" y="374904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4748b"/>
                </a:solidFill>
                <a:latin typeface="Trebuchet MS"/>
                <a:ea typeface="Trebuchet MS"/>
              </a:rPr>
              <a:t>⑤ </a:t>
            </a:r>
            <a:r>
              <a:rPr b="1" lang="en-US" sz="1100" spc="-1" strike="noStrike">
                <a:solidFill>
                  <a:srgbClr val="64748b"/>
                </a:solidFill>
                <a:latin typeface="Trebuchet MS"/>
                <a:ea typeface="Trebuchet MS"/>
              </a:rPr>
              <a:t>Дерек коры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27"/>
          <p:cNvSpPr/>
          <p:nvPr/>
        </p:nvSpPr>
        <p:spPr>
          <a:xfrm>
            <a:off x="7205400" y="4114800"/>
            <a:ext cx="1481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SQLite сақтау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Trebuchet MS"/>
                <a:ea typeface="Trebuchet MS"/>
              </a:rPr>
              <a:t>ДЕРЕКТЕР ЖИЫНЫ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2"/>
          <p:cNvSpPr/>
          <p:nvPr/>
        </p:nvSpPr>
        <p:spPr>
          <a:xfrm>
            <a:off x="320040" y="914400"/>
            <a:ext cx="1965600" cy="1188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3"/>
          <p:cNvSpPr/>
          <p:nvPr/>
        </p:nvSpPr>
        <p:spPr>
          <a:xfrm>
            <a:off x="320040" y="914400"/>
            <a:ext cx="1965600" cy="10944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4"/>
          <p:cNvSpPr/>
          <p:nvPr/>
        </p:nvSpPr>
        <p:spPr>
          <a:xfrm>
            <a:off x="320040" y="1078920"/>
            <a:ext cx="1965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d7e8a"/>
                </a:solidFill>
                <a:latin typeface="Trebuchet MS"/>
                <a:ea typeface="Trebuchet MS"/>
              </a:rPr>
              <a:t>45 221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5"/>
          <p:cNvSpPr/>
          <p:nvPr/>
        </p:nvSpPr>
        <p:spPr>
          <a:xfrm>
            <a:off x="320040" y="1673280"/>
            <a:ext cx="196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жалпы мәтін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6"/>
          <p:cNvSpPr/>
          <p:nvPr/>
        </p:nvSpPr>
        <p:spPr>
          <a:xfrm>
            <a:off x="2468880" y="914400"/>
            <a:ext cx="1965600" cy="1188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7"/>
          <p:cNvSpPr/>
          <p:nvPr/>
        </p:nvSpPr>
        <p:spPr>
          <a:xfrm>
            <a:off x="2468880" y="914400"/>
            <a:ext cx="1965600" cy="109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8"/>
          <p:cNvSpPr/>
          <p:nvPr/>
        </p:nvSpPr>
        <p:spPr>
          <a:xfrm>
            <a:off x="2468880" y="1078920"/>
            <a:ext cx="1965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59669"/>
                </a:solidFill>
                <a:latin typeface="Trebuchet MS"/>
                <a:ea typeface="Trebuchet MS"/>
              </a:rPr>
              <a:t>~35 000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9"/>
          <p:cNvSpPr/>
          <p:nvPr/>
        </p:nvSpPr>
        <p:spPr>
          <a:xfrm>
            <a:off x="2468880" y="1673280"/>
            <a:ext cx="196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нақты жаңалықтар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0"/>
          <p:cNvSpPr/>
          <p:nvPr/>
        </p:nvSpPr>
        <p:spPr>
          <a:xfrm>
            <a:off x="4617720" y="914400"/>
            <a:ext cx="1965600" cy="1188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1"/>
          <p:cNvSpPr/>
          <p:nvPr/>
        </p:nvSpPr>
        <p:spPr>
          <a:xfrm>
            <a:off x="4617720" y="914400"/>
            <a:ext cx="1965600" cy="109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12"/>
          <p:cNvSpPr/>
          <p:nvPr/>
        </p:nvSpPr>
        <p:spPr>
          <a:xfrm>
            <a:off x="4617720" y="1078920"/>
            <a:ext cx="1965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dc2626"/>
                </a:solidFill>
                <a:latin typeface="Trebuchet MS"/>
                <a:ea typeface="Trebuchet MS"/>
              </a:rPr>
              <a:t>~15 000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13"/>
          <p:cNvSpPr/>
          <p:nvPr/>
        </p:nvSpPr>
        <p:spPr>
          <a:xfrm>
            <a:off x="4617720" y="1673280"/>
            <a:ext cx="196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синтетикалық дезинфо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14"/>
          <p:cNvSpPr/>
          <p:nvPr/>
        </p:nvSpPr>
        <p:spPr>
          <a:xfrm>
            <a:off x="6766560" y="914400"/>
            <a:ext cx="1965600" cy="1188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15"/>
          <p:cNvSpPr/>
          <p:nvPr/>
        </p:nvSpPr>
        <p:spPr>
          <a:xfrm>
            <a:off x="6766560" y="914400"/>
            <a:ext cx="1965600" cy="109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16"/>
          <p:cNvSpPr/>
          <p:nvPr/>
        </p:nvSpPr>
        <p:spPr>
          <a:xfrm>
            <a:off x="6766560" y="1078920"/>
            <a:ext cx="1965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d97706"/>
                </a:solidFill>
                <a:latin typeface="Trebuchet MS"/>
                <a:ea typeface="Trebuchet MS"/>
              </a:rPr>
              <a:t>~10 000+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17"/>
          <p:cNvSpPr/>
          <p:nvPr/>
        </p:nvSpPr>
        <p:spPr>
          <a:xfrm>
            <a:off x="6766560" y="1673280"/>
            <a:ext cx="196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аугментация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18"/>
          <p:cNvSpPr/>
          <p:nvPr/>
        </p:nvSpPr>
        <p:spPr>
          <a:xfrm>
            <a:off x="320040" y="2377440"/>
            <a:ext cx="4114440" cy="2377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19"/>
          <p:cNvSpPr/>
          <p:nvPr/>
        </p:nvSpPr>
        <p:spPr>
          <a:xfrm>
            <a:off x="320040" y="2377440"/>
            <a:ext cx="109440" cy="237708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20"/>
          <p:cNvSpPr/>
          <p:nvPr/>
        </p:nvSpPr>
        <p:spPr>
          <a:xfrm>
            <a:off x="548640" y="24872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d7e8a"/>
                </a:solidFill>
                <a:latin typeface="Trebuchet MS"/>
                <a:ea typeface="Trebuchet MS"/>
              </a:rPr>
              <a:t>Деректер бөлінісі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1"/>
          <p:cNvSpPr/>
          <p:nvPr/>
        </p:nvSpPr>
        <p:spPr>
          <a:xfrm>
            <a:off x="548640" y="2926080"/>
            <a:ext cx="36572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Train:       31 654 мәтін  (70%)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Validation:  6 783 мәтін  (15%)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Test:        6 784 мәтін  (15%)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Стратифицирленген бөліну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Класс теңгерімі сақталған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22"/>
          <p:cNvSpPr/>
          <p:nvPr/>
        </p:nvSpPr>
        <p:spPr>
          <a:xfrm>
            <a:off x="4754880" y="2377440"/>
            <a:ext cx="4068720" cy="2377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3"/>
          <p:cNvSpPr/>
          <p:nvPr/>
        </p:nvSpPr>
        <p:spPr>
          <a:xfrm>
            <a:off x="4754880" y="2377440"/>
            <a:ext cx="109440" cy="2377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24"/>
          <p:cNvSpPr/>
          <p:nvPr/>
        </p:nvSpPr>
        <p:spPr>
          <a:xfrm>
            <a:off x="4983480" y="24872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d97706"/>
                </a:solidFill>
                <a:latin typeface="Trebuchet MS"/>
                <a:ea typeface="Trebuchet MS"/>
              </a:rPr>
              <a:t>Дереккөздер мен тақырыптар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5"/>
          <p:cNvSpPr/>
          <p:nvPr/>
        </p:nvSpPr>
        <p:spPr>
          <a:xfrm>
            <a:off x="4983480" y="2926080"/>
            <a:ext cx="36572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Нақты жаңалықтар: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gazeta.ru · lenta.ru · ria.ru · mlsum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KZ тақырыптары (120):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теңге · Акорда · ҰҚК · eGov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Байқоңыр · Арал теңізі · т.б.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Аугментация: 6 әдіс, 80% мөлшерлемесі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Trebuchet MS"/>
                <a:ea typeface="Trebuchet MS"/>
              </a:rPr>
              <a:t>МОДЕЛЬДІ ОҚЫТУ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2"/>
          <p:cNvSpPr/>
          <p:nvPr/>
        </p:nvSpPr>
        <p:spPr>
          <a:xfrm>
            <a:off x="320040" y="914400"/>
            <a:ext cx="530316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3"/>
          <p:cNvSpPr/>
          <p:nvPr/>
        </p:nvSpPr>
        <p:spPr>
          <a:xfrm>
            <a:off x="320040" y="914400"/>
            <a:ext cx="109440" cy="3885840"/>
          </a:xfrm>
          <a:prstGeom prst="rect">
            <a:avLst/>
          </a:prstGeom>
          <a:solidFill>
            <a:srgbClr val="1a3f6f"/>
          </a:solidFill>
          <a:ln w="1270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4"/>
          <p:cNvSpPr/>
          <p:nvPr/>
        </p:nvSpPr>
        <p:spPr>
          <a:xfrm>
            <a:off x="548640" y="100584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f6f"/>
                </a:solidFill>
                <a:latin typeface="Trebuchet MS"/>
                <a:ea typeface="Trebuchet MS"/>
              </a:rPr>
              <a:t>Гиперпараметрлер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548640" y="1481400"/>
            <a:ext cx="1462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7e8a"/>
                </a:solidFill>
                <a:latin typeface="Calibri"/>
                <a:ea typeface="Calibri"/>
              </a:rPr>
              <a:t>Модель: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2057400" y="1481400"/>
            <a:ext cx="3382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ai-forever/ruBert-base (178М параметр)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548640" y="1883520"/>
            <a:ext cx="1462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7e8a"/>
                </a:solidFill>
                <a:latin typeface="Calibri"/>
                <a:ea typeface="Calibri"/>
              </a:rPr>
              <a:t>Эпохалар: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8"/>
          <p:cNvSpPr/>
          <p:nvPr/>
        </p:nvSpPr>
        <p:spPr>
          <a:xfrm>
            <a:off x="2057400" y="1883520"/>
            <a:ext cx="3382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4  (early stopping + best checkpoint)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548640" y="2286000"/>
            <a:ext cx="1462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7e8a"/>
                </a:solidFill>
                <a:latin typeface="Calibri"/>
                <a:ea typeface="Calibri"/>
              </a:rPr>
              <a:t>Learning rate: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10"/>
          <p:cNvSpPr/>
          <p:nvPr/>
        </p:nvSpPr>
        <p:spPr>
          <a:xfrm>
            <a:off x="2057400" y="2286000"/>
            <a:ext cx="3382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2e-5  (AdamW optimizer)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11"/>
          <p:cNvSpPr/>
          <p:nvPr/>
        </p:nvSpPr>
        <p:spPr>
          <a:xfrm>
            <a:off x="548640" y="2688480"/>
            <a:ext cx="1462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7e8a"/>
                </a:solidFill>
                <a:latin typeface="Calibri"/>
                <a:ea typeface="Calibri"/>
              </a:rPr>
              <a:t>Batch size: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12"/>
          <p:cNvSpPr/>
          <p:nvPr/>
        </p:nvSpPr>
        <p:spPr>
          <a:xfrm>
            <a:off x="2057400" y="2688480"/>
            <a:ext cx="3382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16 × grad_accum 2 = эффективті 32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548640" y="3090600"/>
            <a:ext cx="1462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7e8a"/>
                </a:solidFill>
                <a:latin typeface="Calibri"/>
                <a:ea typeface="Calibri"/>
              </a:rPr>
              <a:t>MAX_LENGTH: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2057400" y="3090600"/>
            <a:ext cx="3382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256 токен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15"/>
          <p:cNvSpPr/>
          <p:nvPr/>
        </p:nvSpPr>
        <p:spPr>
          <a:xfrm>
            <a:off x="548640" y="3493080"/>
            <a:ext cx="1462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7e8a"/>
                </a:solidFill>
                <a:latin typeface="Calibri"/>
                <a:ea typeface="Calibri"/>
              </a:rPr>
              <a:t>Warmup ratio: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16"/>
          <p:cNvSpPr/>
          <p:nvPr/>
        </p:nvSpPr>
        <p:spPr>
          <a:xfrm>
            <a:off x="2057400" y="3493080"/>
            <a:ext cx="3382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10%  |  Weight decay: 0.01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7"/>
          <p:cNvSpPr/>
          <p:nvPr/>
        </p:nvSpPr>
        <p:spPr>
          <a:xfrm>
            <a:off x="548640" y="3895200"/>
            <a:ext cx="1462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7e8a"/>
                </a:solidFill>
                <a:latin typeface="Calibri"/>
                <a:ea typeface="Calibri"/>
              </a:rPr>
              <a:t>Платформа: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18"/>
          <p:cNvSpPr/>
          <p:nvPr/>
        </p:nvSpPr>
        <p:spPr>
          <a:xfrm>
            <a:off x="2057400" y="3895200"/>
            <a:ext cx="3382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Google Colab T4 GPU (16 ГБ)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9"/>
          <p:cNvSpPr/>
          <p:nvPr/>
        </p:nvSpPr>
        <p:spPr>
          <a:xfrm>
            <a:off x="548640" y="4297680"/>
            <a:ext cx="1462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d7e8a"/>
                </a:solidFill>
                <a:latin typeface="Calibri"/>
                <a:ea typeface="Calibri"/>
              </a:rPr>
              <a:t>Оқыту уақыты: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20"/>
          <p:cNvSpPr/>
          <p:nvPr/>
        </p:nvSpPr>
        <p:spPr>
          <a:xfrm>
            <a:off x="2057400" y="4297680"/>
            <a:ext cx="3382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~70 минут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21"/>
          <p:cNvSpPr/>
          <p:nvPr/>
        </p:nvSpPr>
        <p:spPr>
          <a:xfrm>
            <a:off x="5989320" y="914400"/>
            <a:ext cx="283428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2"/>
          <p:cNvSpPr/>
          <p:nvPr/>
        </p:nvSpPr>
        <p:spPr>
          <a:xfrm>
            <a:off x="5989320" y="914400"/>
            <a:ext cx="2834280" cy="438480"/>
          </a:xfrm>
          <a:prstGeom prst="rect">
            <a:avLst/>
          </a:prstGeom>
          <a:solidFill>
            <a:srgbClr val="0d7e8a">
              <a:alpha val="90000"/>
            </a:srgbClr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23"/>
          <p:cNvSpPr/>
          <p:nvPr/>
        </p:nvSpPr>
        <p:spPr>
          <a:xfrm>
            <a:off x="6126480" y="914400"/>
            <a:ext cx="25599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Trebuchet MS"/>
                <a:ea typeface="Trebuchet MS"/>
              </a:rPr>
              <a:t>Экспорт жолы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24"/>
          <p:cNvSpPr/>
          <p:nvPr/>
        </p:nvSpPr>
        <p:spPr>
          <a:xfrm>
            <a:off x="6217920" y="1536120"/>
            <a:ext cx="2468520" cy="639720"/>
          </a:xfrm>
          <a:prstGeom prst="rect">
            <a:avLst/>
          </a:prstGeom>
          <a:solidFill>
            <a:srgbClr val="1a3f6f">
              <a:alpha val="15000"/>
            </a:srgbClr>
          </a:solidFill>
          <a:ln w="1905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25"/>
          <p:cNvSpPr/>
          <p:nvPr/>
        </p:nvSpPr>
        <p:spPr>
          <a:xfrm>
            <a:off x="6309360" y="1572840"/>
            <a:ext cx="1371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3f6f"/>
                </a:solidFill>
                <a:latin typeface="Trebuchet MS"/>
                <a:ea typeface="Trebuchet MS"/>
              </a:rPr>
              <a:t>PyTorch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6"/>
          <p:cNvSpPr/>
          <p:nvPr/>
        </p:nvSpPr>
        <p:spPr>
          <a:xfrm>
            <a:off x="7406640" y="1572840"/>
            <a:ext cx="1096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4748b"/>
                </a:solidFill>
                <a:latin typeface="Calibri"/>
                <a:ea typeface="Calibri"/>
              </a:rPr>
              <a:t>680 МБ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27"/>
          <p:cNvSpPr/>
          <p:nvPr/>
        </p:nvSpPr>
        <p:spPr>
          <a:xfrm>
            <a:off x="6217920" y="2560320"/>
            <a:ext cx="2468520" cy="639720"/>
          </a:xfrm>
          <a:prstGeom prst="rect">
            <a:avLst/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28"/>
          <p:cNvSpPr/>
          <p:nvPr/>
        </p:nvSpPr>
        <p:spPr>
          <a:xfrm>
            <a:off x="6309360" y="2597040"/>
            <a:ext cx="1371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97706"/>
                </a:solidFill>
                <a:latin typeface="Trebuchet MS"/>
                <a:ea typeface="Trebuchet MS"/>
              </a:rPr>
              <a:t>↓ </a:t>
            </a:r>
            <a:r>
              <a:rPr b="1" lang="en-US" sz="1300" spc="-1" strike="noStrike">
                <a:solidFill>
                  <a:srgbClr val="d97706"/>
                </a:solidFill>
                <a:latin typeface="Trebuchet MS"/>
                <a:ea typeface="Trebuchet MS"/>
              </a:rPr>
              <a:t>ONNX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29"/>
          <p:cNvSpPr/>
          <p:nvPr/>
        </p:nvSpPr>
        <p:spPr>
          <a:xfrm>
            <a:off x="7406640" y="2597040"/>
            <a:ext cx="1096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4748b"/>
                </a:solidFill>
                <a:latin typeface="Calibri"/>
                <a:ea typeface="Calibri"/>
              </a:rPr>
              <a:t>680 МБ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30"/>
          <p:cNvSpPr/>
          <p:nvPr/>
        </p:nvSpPr>
        <p:spPr>
          <a:xfrm>
            <a:off x="6217920" y="3584520"/>
            <a:ext cx="2468520" cy="639720"/>
          </a:xfrm>
          <a:prstGeom prst="rect">
            <a:avLst/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31"/>
          <p:cNvSpPr/>
          <p:nvPr/>
        </p:nvSpPr>
        <p:spPr>
          <a:xfrm>
            <a:off x="6309360" y="3620880"/>
            <a:ext cx="1371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59669"/>
                </a:solidFill>
                <a:latin typeface="Trebuchet MS"/>
                <a:ea typeface="Trebuchet MS"/>
              </a:rPr>
              <a:t>↓ </a:t>
            </a:r>
            <a:r>
              <a:rPr b="1" lang="en-US" sz="1300" spc="-1" strike="noStrike">
                <a:solidFill>
                  <a:srgbClr val="059669"/>
                </a:solidFill>
                <a:latin typeface="Trebuchet MS"/>
                <a:ea typeface="Trebuchet MS"/>
              </a:rPr>
              <a:t>INT8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32"/>
          <p:cNvSpPr/>
          <p:nvPr/>
        </p:nvSpPr>
        <p:spPr>
          <a:xfrm>
            <a:off x="7406640" y="3620880"/>
            <a:ext cx="1096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4748b"/>
                </a:solidFill>
                <a:latin typeface="Calibri"/>
                <a:ea typeface="Calibri"/>
              </a:rPr>
              <a:t>171 МБ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33"/>
          <p:cNvSpPr/>
          <p:nvPr/>
        </p:nvSpPr>
        <p:spPr>
          <a:xfrm>
            <a:off x="6217920" y="425196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59669"/>
                </a:solidFill>
                <a:latin typeface="Calibri"/>
                <a:ea typeface="Calibri"/>
              </a:rPr>
              <a:t>4× қысу коэффициенті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Trebuchet MS"/>
                <a:ea typeface="Trebuchet MS"/>
              </a:rPr>
              <a:t>МОДЕЛЬ НӘТИЖЕЛЕРІ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320400" y="914760"/>
            <a:ext cx="1965600" cy="1371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3"/>
          <p:cNvSpPr/>
          <p:nvPr/>
        </p:nvSpPr>
        <p:spPr>
          <a:xfrm>
            <a:off x="320040" y="914400"/>
            <a:ext cx="1965600" cy="12780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320040" y="1097280"/>
            <a:ext cx="1965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0d7e8a"/>
                </a:solidFill>
                <a:latin typeface="Trebuchet MS"/>
                <a:ea typeface="Trebuchet MS"/>
              </a:rPr>
              <a:t>99.9%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320040" y="1920240"/>
            <a:ext cx="1965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F1-скор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2468880" y="914400"/>
            <a:ext cx="1965600" cy="1371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7"/>
          <p:cNvSpPr/>
          <p:nvPr/>
        </p:nvSpPr>
        <p:spPr>
          <a:xfrm>
            <a:off x="2468880" y="914400"/>
            <a:ext cx="1965600" cy="1278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8"/>
          <p:cNvSpPr/>
          <p:nvPr/>
        </p:nvSpPr>
        <p:spPr>
          <a:xfrm>
            <a:off x="2468880" y="1097280"/>
            <a:ext cx="1965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059669"/>
                </a:solidFill>
                <a:latin typeface="Trebuchet MS"/>
                <a:ea typeface="Trebuchet MS"/>
              </a:rPr>
              <a:t>99.9%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2468880" y="1920240"/>
            <a:ext cx="1965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Accuracy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0"/>
          <p:cNvSpPr/>
          <p:nvPr/>
        </p:nvSpPr>
        <p:spPr>
          <a:xfrm>
            <a:off x="4617720" y="914400"/>
            <a:ext cx="1965600" cy="1371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1"/>
          <p:cNvSpPr/>
          <p:nvPr/>
        </p:nvSpPr>
        <p:spPr>
          <a:xfrm>
            <a:off x="4617720" y="914400"/>
            <a:ext cx="1965600" cy="127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12"/>
          <p:cNvSpPr/>
          <p:nvPr/>
        </p:nvSpPr>
        <p:spPr>
          <a:xfrm>
            <a:off x="4617720" y="1097280"/>
            <a:ext cx="1965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d97706"/>
                </a:solidFill>
                <a:latin typeface="Trebuchet MS"/>
                <a:ea typeface="Trebuchet MS"/>
              </a:rPr>
              <a:t>99.9%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13"/>
          <p:cNvSpPr/>
          <p:nvPr/>
        </p:nvSpPr>
        <p:spPr>
          <a:xfrm>
            <a:off x="4617720" y="1920240"/>
            <a:ext cx="1965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Precision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4"/>
          <p:cNvSpPr/>
          <p:nvPr/>
        </p:nvSpPr>
        <p:spPr>
          <a:xfrm>
            <a:off x="6766560" y="914400"/>
            <a:ext cx="1965600" cy="1371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5"/>
          <p:cNvSpPr/>
          <p:nvPr/>
        </p:nvSpPr>
        <p:spPr>
          <a:xfrm>
            <a:off x="6766560" y="914400"/>
            <a:ext cx="1965600" cy="127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16"/>
          <p:cNvSpPr/>
          <p:nvPr/>
        </p:nvSpPr>
        <p:spPr>
          <a:xfrm>
            <a:off x="6766560" y="1097280"/>
            <a:ext cx="1965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dc2626"/>
                </a:solidFill>
                <a:latin typeface="Trebuchet MS"/>
                <a:ea typeface="Trebuchet MS"/>
              </a:rPr>
              <a:t>100%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17"/>
          <p:cNvSpPr/>
          <p:nvPr/>
        </p:nvSpPr>
        <p:spPr>
          <a:xfrm>
            <a:off x="6766560" y="1920240"/>
            <a:ext cx="1965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Recall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18"/>
          <p:cNvSpPr/>
          <p:nvPr/>
        </p:nvSpPr>
        <p:spPr>
          <a:xfrm>
            <a:off x="320040" y="2514600"/>
            <a:ext cx="4114440" cy="2239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19"/>
          <p:cNvSpPr/>
          <p:nvPr/>
        </p:nvSpPr>
        <p:spPr>
          <a:xfrm>
            <a:off x="320040" y="2514600"/>
            <a:ext cx="109440" cy="223992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20"/>
          <p:cNvSpPr/>
          <p:nvPr/>
        </p:nvSpPr>
        <p:spPr>
          <a:xfrm>
            <a:off x="548640" y="26244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d7e8a"/>
                </a:solidFill>
                <a:latin typeface="Trebuchet MS"/>
                <a:ea typeface="Trebuchet MS"/>
              </a:rPr>
              <a:t>Confusion Matrix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1"/>
          <p:cNvSpPr/>
          <p:nvPr/>
        </p:nvSpPr>
        <p:spPr>
          <a:xfrm>
            <a:off x="548640" y="3063240"/>
            <a:ext cx="36572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Тест жиынтығы: 6 784 мәтін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Дұрыс жіктелген: 6 778 / 6 784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Қате: тек 6 мәтін (0.09%)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Іс жүзінде мінсіз жіктеу нәтижесі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2"/>
          <p:cNvSpPr/>
          <p:nvPr/>
        </p:nvSpPr>
        <p:spPr>
          <a:xfrm>
            <a:off x="4754880" y="2514600"/>
            <a:ext cx="4068720" cy="2239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3"/>
          <p:cNvSpPr/>
          <p:nvPr/>
        </p:nvSpPr>
        <p:spPr>
          <a:xfrm>
            <a:off x="4754880" y="2514600"/>
            <a:ext cx="109440" cy="2239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24"/>
          <p:cNvSpPr/>
          <p:nvPr/>
        </p:nvSpPr>
        <p:spPr>
          <a:xfrm>
            <a:off x="4983480" y="26244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d97706"/>
                </a:solidFill>
                <a:latin typeface="Trebuchet MS"/>
                <a:ea typeface="Trebuchet MS"/>
              </a:rPr>
              <a:t>Инференс жылдамдығы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25"/>
          <p:cNvSpPr/>
          <p:nvPr/>
        </p:nvSpPr>
        <p:spPr>
          <a:xfrm>
            <a:off x="4983480" y="3063240"/>
            <a:ext cx="36572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Медиана:     ~550 мс (CPU)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P95:         ~620 мс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Модель:      INT8 кванттау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Провайдер:   CPUExecutionProvider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Орталық деплой (CPU) үшін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жарамды жылдамдық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Trebuchet MS"/>
                <a:ea typeface="Trebuchet MS"/>
              </a:rPr>
              <a:t>ВЕБ-ҚОСЫМША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2"/>
          <p:cNvSpPr/>
          <p:nvPr/>
        </p:nvSpPr>
        <p:spPr>
          <a:xfrm>
            <a:off x="320040" y="960120"/>
            <a:ext cx="4160160" cy="1142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"/>
          <p:cNvSpPr/>
          <p:nvPr/>
        </p:nvSpPr>
        <p:spPr>
          <a:xfrm>
            <a:off x="320040" y="960120"/>
            <a:ext cx="109440" cy="114264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521280" y="105156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d7e8a"/>
                </a:solidFill>
                <a:latin typeface="Trebuchet MS"/>
                <a:ea typeface="Trebuchet MS"/>
              </a:rPr>
              <a:t>Мәтін / URL талдау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5"/>
          <p:cNvSpPr/>
          <p:nvPr/>
        </p:nvSpPr>
        <p:spPr>
          <a:xfrm>
            <a:off x="521280" y="1435680"/>
            <a:ext cx="3748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Тексті немесе мақала сілтемесін кіргізіп, талдауды бастаңыз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6"/>
          <p:cNvSpPr/>
          <p:nvPr/>
        </p:nvSpPr>
        <p:spPr>
          <a:xfrm>
            <a:off x="4754880" y="960120"/>
            <a:ext cx="4160160" cy="1142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7"/>
          <p:cNvSpPr/>
          <p:nvPr/>
        </p:nvSpPr>
        <p:spPr>
          <a:xfrm>
            <a:off x="4754880" y="960120"/>
            <a:ext cx="109440" cy="1142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8"/>
          <p:cNvSpPr/>
          <p:nvPr/>
        </p:nvSpPr>
        <p:spPr>
          <a:xfrm>
            <a:off x="4956120" y="105156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59669"/>
                </a:solidFill>
                <a:latin typeface="Trebuchet MS"/>
                <a:ea typeface="Trebuchet MS"/>
              </a:rPr>
              <a:t>Толық есеп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4956120" y="1435680"/>
            <a:ext cx="3748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ML-скор + 5 ереже модулі + анықталған белгілер тізімі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10"/>
          <p:cNvSpPr/>
          <p:nvPr/>
        </p:nvSpPr>
        <p:spPr>
          <a:xfrm>
            <a:off x="320040" y="2286000"/>
            <a:ext cx="4160160" cy="1142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11"/>
          <p:cNvSpPr/>
          <p:nvPr/>
        </p:nvSpPr>
        <p:spPr>
          <a:xfrm>
            <a:off x="320040" y="2286000"/>
            <a:ext cx="109440" cy="1142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521280" y="237744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97706"/>
                </a:solidFill>
                <a:latin typeface="Trebuchet MS"/>
                <a:ea typeface="Trebuchet MS"/>
              </a:rPr>
              <a:t>12 мысал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13"/>
          <p:cNvSpPr/>
          <p:nvPr/>
        </p:nvSpPr>
        <p:spPr>
          <a:xfrm>
            <a:off x="521280" y="2761560"/>
            <a:ext cx="3748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RU + KZ тілдерінде фейк және нақты жаңалық үлгілері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14"/>
          <p:cNvSpPr/>
          <p:nvPr/>
        </p:nvSpPr>
        <p:spPr>
          <a:xfrm>
            <a:off x="4754880" y="2286000"/>
            <a:ext cx="4160160" cy="1142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15"/>
          <p:cNvSpPr/>
          <p:nvPr/>
        </p:nvSpPr>
        <p:spPr>
          <a:xfrm>
            <a:off x="4754880" y="2286000"/>
            <a:ext cx="109440" cy="1142640"/>
          </a:xfrm>
          <a:prstGeom prst="rect">
            <a:avLst/>
          </a:prstGeom>
          <a:solidFill>
            <a:srgbClr val="1a3f6f"/>
          </a:solidFill>
          <a:ln w="1270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16"/>
          <p:cNvSpPr/>
          <p:nvPr/>
        </p:nvSpPr>
        <p:spPr>
          <a:xfrm>
            <a:off x="4956120" y="237744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3f6f"/>
                </a:solidFill>
                <a:latin typeface="Trebuchet MS"/>
                <a:ea typeface="Trebuchet MS"/>
              </a:rPr>
              <a:t>Дерек коры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17"/>
          <p:cNvSpPr/>
          <p:nvPr/>
        </p:nvSpPr>
        <p:spPr>
          <a:xfrm>
            <a:off x="4956120" y="2761560"/>
            <a:ext cx="3748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SQLite деректер қорында барлық талдаулар сақталады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18"/>
          <p:cNvSpPr/>
          <p:nvPr/>
        </p:nvSpPr>
        <p:spPr>
          <a:xfrm>
            <a:off x="320040" y="3611880"/>
            <a:ext cx="4160160" cy="1142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19"/>
          <p:cNvSpPr/>
          <p:nvPr/>
        </p:nvSpPr>
        <p:spPr>
          <a:xfrm>
            <a:off x="320040" y="3611880"/>
            <a:ext cx="109440" cy="1142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20"/>
          <p:cNvSpPr/>
          <p:nvPr/>
        </p:nvSpPr>
        <p:spPr>
          <a:xfrm>
            <a:off x="521280" y="370332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c2626"/>
                </a:solidFill>
                <a:latin typeface="Trebuchet MS"/>
                <a:ea typeface="Trebuchet MS"/>
              </a:rPr>
              <a:t>36 домен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21"/>
          <p:cNvSpPr/>
          <p:nvPr/>
        </p:nvSpPr>
        <p:spPr>
          <a:xfrm>
            <a:off x="521280" y="4087440"/>
            <a:ext cx="3748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KZ медиа + халықаралық + үгіт-насихат сайттар рейтингі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22"/>
          <p:cNvSpPr/>
          <p:nvPr/>
        </p:nvSpPr>
        <p:spPr>
          <a:xfrm>
            <a:off x="4754880" y="3611880"/>
            <a:ext cx="4160160" cy="1142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23"/>
          <p:cNvSpPr/>
          <p:nvPr/>
        </p:nvSpPr>
        <p:spPr>
          <a:xfrm>
            <a:off x="4754880" y="3611880"/>
            <a:ext cx="109440" cy="114264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24"/>
          <p:cNvSpPr/>
          <p:nvPr/>
        </p:nvSpPr>
        <p:spPr>
          <a:xfrm>
            <a:off x="4956120" y="370332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d7e8a"/>
                </a:solidFill>
                <a:latin typeface="Trebuchet MS"/>
                <a:ea typeface="Trebuchet MS"/>
              </a:rPr>
              <a:t>Қараңғы UI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25"/>
          <p:cNvSpPr/>
          <p:nvPr/>
        </p:nvSpPr>
        <p:spPr>
          <a:xfrm>
            <a:off x="4956120" y="4087440"/>
            <a:ext cx="3748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FastAPI + HTMX + адаптивті интерфейс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Trebuchet MS"/>
                <a:ea typeface="Trebuchet MS"/>
              </a:rPr>
              <a:t>ТЕХНОЛОГИЯЛАР СТЕГІ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2"/>
          <p:cNvSpPr/>
          <p:nvPr/>
        </p:nvSpPr>
        <p:spPr>
          <a:xfrm>
            <a:off x="320040" y="960120"/>
            <a:ext cx="4160160" cy="1919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3"/>
          <p:cNvSpPr/>
          <p:nvPr/>
        </p:nvSpPr>
        <p:spPr>
          <a:xfrm>
            <a:off x="320040" y="960120"/>
            <a:ext cx="4160160" cy="438480"/>
          </a:xfrm>
          <a:prstGeom prst="rect">
            <a:avLst/>
          </a:prstGeom>
          <a:solidFill>
            <a:srgbClr val="0d7e8a">
              <a:alpha val="90000"/>
            </a:srgbClr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457200" y="960120"/>
            <a:ext cx="38401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Trebuchet MS"/>
                <a:ea typeface="Trebuchet MS"/>
              </a:rPr>
              <a:t>Бэкенд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502920" y="1527120"/>
            <a:ext cx="91080" cy="9108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667440" y="147204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Python 3.12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7"/>
          <p:cNvSpPr/>
          <p:nvPr/>
        </p:nvSpPr>
        <p:spPr>
          <a:xfrm>
            <a:off x="502920" y="1856160"/>
            <a:ext cx="91080" cy="9108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667440" y="180144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FastAPI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9"/>
          <p:cNvSpPr/>
          <p:nvPr/>
        </p:nvSpPr>
        <p:spPr>
          <a:xfrm>
            <a:off x="502920" y="2185560"/>
            <a:ext cx="91080" cy="9108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10"/>
          <p:cNvSpPr/>
          <p:nvPr/>
        </p:nvSpPr>
        <p:spPr>
          <a:xfrm>
            <a:off x="667440" y="213048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Uvicorn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1"/>
          <p:cNvSpPr/>
          <p:nvPr/>
        </p:nvSpPr>
        <p:spPr>
          <a:xfrm>
            <a:off x="502920" y="2514600"/>
            <a:ext cx="91080" cy="9108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667440" y="245988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aiosqlite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3"/>
          <p:cNvSpPr/>
          <p:nvPr/>
        </p:nvSpPr>
        <p:spPr>
          <a:xfrm>
            <a:off x="502920" y="2843640"/>
            <a:ext cx="91080" cy="91080"/>
          </a:xfrm>
          <a:prstGeom prst="ellipse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667440" y="278892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HTMX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15"/>
          <p:cNvSpPr/>
          <p:nvPr/>
        </p:nvSpPr>
        <p:spPr>
          <a:xfrm>
            <a:off x="4754880" y="960120"/>
            <a:ext cx="4160160" cy="1919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4754880" y="960120"/>
            <a:ext cx="4160160" cy="438480"/>
          </a:xfrm>
          <a:prstGeom prst="rect">
            <a:avLst/>
          </a:prstGeom>
          <a:solidFill>
            <a:srgbClr val="1a3f6f">
              <a:alpha val="90000"/>
            </a:srgbClr>
          </a:solidFill>
          <a:ln w="1270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17"/>
          <p:cNvSpPr/>
          <p:nvPr/>
        </p:nvSpPr>
        <p:spPr>
          <a:xfrm>
            <a:off x="4892040" y="960120"/>
            <a:ext cx="38401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Trebuchet MS"/>
                <a:ea typeface="Trebuchet MS"/>
              </a:rPr>
              <a:t>ML / Инференс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8"/>
          <p:cNvSpPr/>
          <p:nvPr/>
        </p:nvSpPr>
        <p:spPr>
          <a:xfrm>
            <a:off x="4937760" y="1527120"/>
            <a:ext cx="91080" cy="91080"/>
          </a:xfrm>
          <a:prstGeom prst="ellipse">
            <a:avLst/>
          </a:prstGeom>
          <a:solidFill>
            <a:srgbClr val="1a3f6f"/>
          </a:solidFill>
          <a:ln w="1270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5102280" y="147204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HuggingFace Transformers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0"/>
          <p:cNvSpPr/>
          <p:nvPr/>
        </p:nvSpPr>
        <p:spPr>
          <a:xfrm>
            <a:off x="4937760" y="1856160"/>
            <a:ext cx="91080" cy="91080"/>
          </a:xfrm>
          <a:prstGeom prst="ellipse">
            <a:avLst/>
          </a:prstGeom>
          <a:solidFill>
            <a:srgbClr val="1a3f6f"/>
          </a:solidFill>
          <a:ln w="1270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21"/>
          <p:cNvSpPr/>
          <p:nvPr/>
        </p:nvSpPr>
        <p:spPr>
          <a:xfrm>
            <a:off x="5102280" y="180144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ONNX Runtime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22"/>
          <p:cNvSpPr/>
          <p:nvPr/>
        </p:nvSpPr>
        <p:spPr>
          <a:xfrm>
            <a:off x="4937760" y="2185560"/>
            <a:ext cx="91080" cy="91080"/>
          </a:xfrm>
          <a:prstGeom prst="ellipse">
            <a:avLst/>
          </a:prstGeom>
          <a:solidFill>
            <a:srgbClr val="1a3f6f"/>
          </a:solidFill>
          <a:ln w="1270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23"/>
          <p:cNvSpPr/>
          <p:nvPr/>
        </p:nvSpPr>
        <p:spPr>
          <a:xfrm>
            <a:off x="5102280" y="213048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Optimum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24"/>
          <p:cNvSpPr/>
          <p:nvPr/>
        </p:nvSpPr>
        <p:spPr>
          <a:xfrm>
            <a:off x="4937760" y="2514600"/>
            <a:ext cx="91080" cy="91080"/>
          </a:xfrm>
          <a:prstGeom prst="ellipse">
            <a:avLst/>
          </a:prstGeom>
          <a:solidFill>
            <a:srgbClr val="1a3f6f"/>
          </a:solidFill>
          <a:ln w="1270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25"/>
          <p:cNvSpPr/>
          <p:nvPr/>
        </p:nvSpPr>
        <p:spPr>
          <a:xfrm>
            <a:off x="5102280" y="245988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PyTorch (оқыту)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26"/>
          <p:cNvSpPr/>
          <p:nvPr/>
        </p:nvSpPr>
        <p:spPr>
          <a:xfrm>
            <a:off x="320040" y="3063240"/>
            <a:ext cx="4160160" cy="1919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27"/>
          <p:cNvSpPr/>
          <p:nvPr/>
        </p:nvSpPr>
        <p:spPr>
          <a:xfrm>
            <a:off x="320040" y="3063240"/>
            <a:ext cx="4160160" cy="438480"/>
          </a:xfrm>
          <a:prstGeom prst="rect">
            <a:avLst/>
          </a:prstGeom>
          <a:solidFill>
            <a:srgbClr val="d97706">
              <a:alpha val="90000"/>
            </a:srgbClr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28"/>
          <p:cNvSpPr/>
          <p:nvPr/>
        </p:nvSpPr>
        <p:spPr>
          <a:xfrm>
            <a:off x="457200" y="3063240"/>
            <a:ext cx="38401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Trebuchet MS"/>
                <a:ea typeface="Trebuchet MS"/>
              </a:rPr>
              <a:t>Оқыту орны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9"/>
          <p:cNvSpPr/>
          <p:nvPr/>
        </p:nvSpPr>
        <p:spPr>
          <a:xfrm>
            <a:off x="502920" y="3630240"/>
            <a:ext cx="91080" cy="91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30"/>
          <p:cNvSpPr/>
          <p:nvPr/>
        </p:nvSpPr>
        <p:spPr>
          <a:xfrm>
            <a:off x="667440" y="357516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Google Colab T4 GPU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31"/>
          <p:cNvSpPr/>
          <p:nvPr/>
        </p:nvSpPr>
        <p:spPr>
          <a:xfrm>
            <a:off x="502920" y="3959280"/>
            <a:ext cx="91080" cy="91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32"/>
          <p:cNvSpPr/>
          <p:nvPr/>
        </p:nvSpPr>
        <p:spPr>
          <a:xfrm>
            <a:off x="667440" y="390456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Google Drive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33"/>
          <p:cNvSpPr/>
          <p:nvPr/>
        </p:nvSpPr>
        <p:spPr>
          <a:xfrm>
            <a:off x="502920" y="4288680"/>
            <a:ext cx="91080" cy="91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34"/>
          <p:cNvSpPr/>
          <p:nvPr/>
        </p:nvSpPr>
        <p:spPr>
          <a:xfrm>
            <a:off x="667440" y="423360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Datasets (HF)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35"/>
          <p:cNvSpPr/>
          <p:nvPr/>
        </p:nvSpPr>
        <p:spPr>
          <a:xfrm>
            <a:off x="502920" y="4617720"/>
            <a:ext cx="91080" cy="91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36"/>
          <p:cNvSpPr/>
          <p:nvPr/>
        </p:nvSpPr>
        <p:spPr>
          <a:xfrm>
            <a:off x="667440" y="456300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scikit-learn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37"/>
          <p:cNvSpPr/>
          <p:nvPr/>
        </p:nvSpPr>
        <p:spPr>
          <a:xfrm>
            <a:off x="4754880" y="3063240"/>
            <a:ext cx="4160160" cy="1919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38"/>
          <p:cNvSpPr/>
          <p:nvPr/>
        </p:nvSpPr>
        <p:spPr>
          <a:xfrm>
            <a:off x="4754880" y="3063240"/>
            <a:ext cx="4160160" cy="438480"/>
          </a:xfrm>
          <a:prstGeom prst="rect">
            <a:avLst/>
          </a:prstGeom>
          <a:solidFill>
            <a:srgbClr val="059669">
              <a:alpha val="90000"/>
            </a:srgbClr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39"/>
          <p:cNvSpPr/>
          <p:nvPr/>
        </p:nvSpPr>
        <p:spPr>
          <a:xfrm>
            <a:off x="4892040" y="3063240"/>
            <a:ext cx="38401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Trebuchet MS"/>
                <a:ea typeface="Trebuchet MS"/>
              </a:rPr>
              <a:t>Деректер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40"/>
          <p:cNvSpPr/>
          <p:nvPr/>
        </p:nvSpPr>
        <p:spPr>
          <a:xfrm>
            <a:off x="4937760" y="3630240"/>
            <a:ext cx="91080" cy="910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41"/>
          <p:cNvSpPr/>
          <p:nvPr/>
        </p:nvSpPr>
        <p:spPr>
          <a:xfrm>
            <a:off x="5102280" y="357516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36 KZ/RU домен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42"/>
          <p:cNvSpPr/>
          <p:nvPr/>
        </p:nvSpPr>
        <p:spPr>
          <a:xfrm>
            <a:off x="4937760" y="3959280"/>
            <a:ext cx="91080" cy="910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 43"/>
          <p:cNvSpPr/>
          <p:nvPr/>
        </p:nvSpPr>
        <p:spPr>
          <a:xfrm>
            <a:off x="5102280" y="390456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120 KZ тақырыбы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44"/>
          <p:cNvSpPr/>
          <p:nvPr/>
        </p:nvSpPr>
        <p:spPr>
          <a:xfrm>
            <a:off x="4937760" y="4288680"/>
            <a:ext cx="91080" cy="910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45"/>
          <p:cNvSpPr/>
          <p:nvPr/>
        </p:nvSpPr>
        <p:spPr>
          <a:xfrm>
            <a:off x="5102280" y="423360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6 аугментация әдісі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46"/>
          <p:cNvSpPr/>
          <p:nvPr/>
        </p:nvSpPr>
        <p:spPr>
          <a:xfrm>
            <a:off x="4937760" y="4617720"/>
            <a:ext cx="91080" cy="910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47"/>
          <p:cNvSpPr/>
          <p:nvPr/>
        </p:nvSpPr>
        <p:spPr>
          <a:xfrm>
            <a:off x="5102280" y="456300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  <a:ea typeface="Calibri"/>
              </a:rPr>
              <a:t>45 221 мәтін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Trebuchet MS"/>
                <a:ea typeface="Trebuchet MS"/>
              </a:rPr>
              <a:t>ШЕКТЕУЛЕР ЖӘНЕ БОЛАШАҚ ЖОСПАРЛАР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2"/>
          <p:cNvSpPr/>
          <p:nvPr/>
        </p:nvSpPr>
        <p:spPr>
          <a:xfrm>
            <a:off x="320040" y="914400"/>
            <a:ext cx="38401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3"/>
          <p:cNvSpPr/>
          <p:nvPr/>
        </p:nvSpPr>
        <p:spPr>
          <a:xfrm>
            <a:off x="320040" y="914400"/>
            <a:ext cx="109440" cy="388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4"/>
          <p:cNvSpPr/>
          <p:nvPr/>
        </p:nvSpPr>
        <p:spPr>
          <a:xfrm>
            <a:off x="548640" y="102420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e293b"/>
                </a:solidFill>
                <a:latin typeface="Trebuchet MS"/>
                <a:ea typeface="Trebuchet MS"/>
              </a:rPr>
              <a:t>Ағымдағы шектеулер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5"/>
          <p:cNvSpPr/>
          <p:nvPr/>
        </p:nvSpPr>
        <p:spPr>
          <a:xfrm>
            <a:off x="548640" y="1572840"/>
            <a:ext cx="127800" cy="1278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6"/>
          <p:cNvSpPr/>
          <p:nvPr/>
        </p:nvSpPr>
        <p:spPr>
          <a:xfrm>
            <a:off x="749880" y="151776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Тек RU + KZ тілдері — ағылшын жоқ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7"/>
          <p:cNvSpPr/>
          <p:nvPr/>
        </p:nvSpPr>
        <p:spPr>
          <a:xfrm>
            <a:off x="548640" y="2048400"/>
            <a:ext cx="127800" cy="1278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8"/>
          <p:cNvSpPr/>
          <p:nvPr/>
        </p:nvSpPr>
        <p:spPr>
          <a:xfrm>
            <a:off x="749880" y="199332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Синтетикалық деректер — нақты KZ жаңалықтары аз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9"/>
          <p:cNvSpPr/>
          <p:nvPr/>
        </p:nvSpPr>
        <p:spPr>
          <a:xfrm>
            <a:off x="548640" y="2523600"/>
            <a:ext cx="127800" cy="1278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10"/>
          <p:cNvSpPr/>
          <p:nvPr/>
        </p:nvSpPr>
        <p:spPr>
          <a:xfrm>
            <a:off x="749880" y="246888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CPU инференс ~550 мс — реалтайм үшін баяу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1"/>
          <p:cNvSpPr/>
          <p:nvPr/>
        </p:nvSpPr>
        <p:spPr>
          <a:xfrm>
            <a:off x="548640" y="2999160"/>
            <a:ext cx="127800" cy="1278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2"/>
          <p:cNvSpPr/>
          <p:nvPr/>
        </p:nvSpPr>
        <p:spPr>
          <a:xfrm>
            <a:off x="749880" y="294444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URL талдауы — барлық сайт қолданылмайды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3"/>
          <p:cNvSpPr/>
          <p:nvPr/>
        </p:nvSpPr>
        <p:spPr>
          <a:xfrm>
            <a:off x="548640" y="3474720"/>
            <a:ext cx="127800" cy="1278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14"/>
          <p:cNvSpPr/>
          <p:nvPr/>
        </p:nvSpPr>
        <p:spPr>
          <a:xfrm>
            <a:off x="749880" y="342000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Қысқа мәтін (&lt;30 сөз) — сенімділік төмен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5"/>
          <p:cNvSpPr/>
          <p:nvPr/>
        </p:nvSpPr>
        <p:spPr>
          <a:xfrm>
            <a:off x="4983480" y="914400"/>
            <a:ext cx="3840120" cy="388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16"/>
          <p:cNvSpPr/>
          <p:nvPr/>
        </p:nvSpPr>
        <p:spPr>
          <a:xfrm>
            <a:off x="4983480" y="914400"/>
            <a:ext cx="109440" cy="38858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17"/>
          <p:cNvSpPr/>
          <p:nvPr/>
        </p:nvSpPr>
        <p:spPr>
          <a:xfrm>
            <a:off x="5212080" y="102420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e293b"/>
                </a:solidFill>
                <a:latin typeface="Trebuchet MS"/>
                <a:ea typeface="Trebuchet MS"/>
              </a:rPr>
              <a:t>Болашақ жоспарлар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18"/>
          <p:cNvSpPr/>
          <p:nvPr/>
        </p:nvSpPr>
        <p:spPr>
          <a:xfrm>
            <a:off x="5212080" y="1572840"/>
            <a:ext cx="127800" cy="1278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19"/>
          <p:cNvSpPr/>
          <p:nvPr/>
        </p:nvSpPr>
        <p:spPr>
          <a:xfrm>
            <a:off x="5413320" y="151776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Нақты KZ жаңалықтарымен қайта оқыту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0"/>
          <p:cNvSpPr/>
          <p:nvPr/>
        </p:nvSpPr>
        <p:spPr>
          <a:xfrm>
            <a:off x="5212080" y="2048400"/>
            <a:ext cx="127800" cy="1278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21"/>
          <p:cNvSpPr/>
          <p:nvPr/>
        </p:nvSpPr>
        <p:spPr>
          <a:xfrm>
            <a:off x="5413320" y="199332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XLM-RoBERTa — көптілді модель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2"/>
          <p:cNvSpPr/>
          <p:nvPr/>
        </p:nvSpPr>
        <p:spPr>
          <a:xfrm>
            <a:off x="5212080" y="2523600"/>
            <a:ext cx="127800" cy="1278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23"/>
          <p:cNvSpPr/>
          <p:nvPr/>
        </p:nvSpPr>
        <p:spPr>
          <a:xfrm>
            <a:off x="5413320" y="246888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GPU деплой — инференсті &lt;100 мс дейін жылдамдату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4"/>
          <p:cNvSpPr/>
          <p:nvPr/>
        </p:nvSpPr>
        <p:spPr>
          <a:xfrm>
            <a:off x="5212080" y="2999160"/>
            <a:ext cx="127800" cy="1278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25"/>
          <p:cNvSpPr/>
          <p:nvPr/>
        </p:nvSpPr>
        <p:spPr>
          <a:xfrm>
            <a:off x="5413320" y="294444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БАҚ және фактчек ұйымдары үшін API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6"/>
          <p:cNvSpPr/>
          <p:nvPr/>
        </p:nvSpPr>
        <p:spPr>
          <a:xfrm>
            <a:off x="5212080" y="3474720"/>
            <a:ext cx="127800" cy="1278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27"/>
          <p:cNvSpPr/>
          <p:nvPr/>
        </p:nvSpPr>
        <p:spPr>
          <a:xfrm>
            <a:off x="5413320" y="342000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Браузер плагині — тікелей тексеру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365760" y="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Trebuchet MS"/>
                <a:ea typeface="Trebuchet MS"/>
              </a:rPr>
              <a:t>ҚОРЫТЫНДЫ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320040" y="960120"/>
            <a:ext cx="416016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3"/>
          <p:cNvSpPr/>
          <p:nvPr/>
        </p:nvSpPr>
        <p:spPr>
          <a:xfrm>
            <a:off x="320040" y="960120"/>
            <a:ext cx="4160160" cy="109440"/>
          </a:xfrm>
          <a:prstGeom prst="rect">
            <a:avLst/>
          </a:prstGeom>
          <a:solidFill>
            <a:srgbClr val="0d7e8a"/>
          </a:solidFill>
          <a:ln w="12700">
            <a:solidFill>
              <a:srgbClr val="0d7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320040" y="1124640"/>
            <a:ext cx="4160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0d7e8a"/>
                </a:solidFill>
                <a:latin typeface="Trebuchet MS"/>
                <a:ea typeface="Trebuchet MS"/>
              </a:rPr>
              <a:t>99.9%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320040" y="1828800"/>
            <a:ext cx="41601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Тест F1-скоры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іс жүзінде мінсіз жіктеу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6"/>
          <p:cNvSpPr/>
          <p:nvPr/>
        </p:nvSpPr>
        <p:spPr>
          <a:xfrm>
            <a:off x="4754880" y="960120"/>
            <a:ext cx="416016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7"/>
          <p:cNvSpPr/>
          <p:nvPr/>
        </p:nvSpPr>
        <p:spPr>
          <a:xfrm>
            <a:off x="4754880" y="960120"/>
            <a:ext cx="4160160" cy="109440"/>
          </a:xfrm>
          <a:prstGeom prst="rect">
            <a:avLst/>
          </a:prstGeom>
          <a:solidFill>
            <a:srgbClr val="1a3f6f"/>
          </a:solidFill>
          <a:ln w="12700">
            <a:solidFill>
              <a:srgbClr val="1a3f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8"/>
          <p:cNvSpPr/>
          <p:nvPr/>
        </p:nvSpPr>
        <p:spPr>
          <a:xfrm>
            <a:off x="4754880" y="1124640"/>
            <a:ext cx="4160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1a3f6f"/>
                </a:solidFill>
                <a:latin typeface="Trebuchet MS"/>
                <a:ea typeface="Trebuchet MS"/>
              </a:rPr>
              <a:t>RU+KZ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9"/>
          <p:cNvSpPr/>
          <p:nvPr/>
        </p:nvSpPr>
        <p:spPr>
          <a:xfrm>
            <a:off x="4754880" y="1828800"/>
            <a:ext cx="41601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Екітілді қолдау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bірінші KZ дезинфо жүйесі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0040" y="2788920"/>
            <a:ext cx="416016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11"/>
          <p:cNvSpPr/>
          <p:nvPr/>
        </p:nvSpPr>
        <p:spPr>
          <a:xfrm>
            <a:off x="320040" y="2788920"/>
            <a:ext cx="4160160" cy="109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2"/>
          <p:cNvSpPr/>
          <p:nvPr/>
        </p:nvSpPr>
        <p:spPr>
          <a:xfrm>
            <a:off x="320040" y="2953440"/>
            <a:ext cx="4160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d97706"/>
                </a:solidFill>
                <a:latin typeface="Trebuchet MS"/>
                <a:ea typeface="Trebuchet MS"/>
              </a:rPr>
              <a:t>45 221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20040" y="3657600"/>
            <a:ext cx="41601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Мәтін деректер жиыны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KZ-контекстік тақырыптар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14"/>
          <p:cNvSpPr/>
          <p:nvPr/>
        </p:nvSpPr>
        <p:spPr>
          <a:xfrm>
            <a:off x="4754880" y="2788920"/>
            <a:ext cx="416016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4754880" y="2788920"/>
            <a:ext cx="4160160" cy="109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16"/>
          <p:cNvSpPr/>
          <p:nvPr/>
        </p:nvSpPr>
        <p:spPr>
          <a:xfrm>
            <a:off x="4754880" y="2953440"/>
            <a:ext cx="4160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059669"/>
                </a:solidFill>
                <a:latin typeface="Trebuchet MS"/>
                <a:ea typeface="Trebuchet MS"/>
              </a:rPr>
              <a:t>171 МБ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17"/>
          <p:cNvSpPr/>
          <p:nvPr/>
        </p:nvSpPr>
        <p:spPr>
          <a:xfrm>
            <a:off x="4754880" y="3657600"/>
            <a:ext cx="41601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INT8 кванттау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4× қысу, жергілікті деплой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18"/>
          <p:cNvSpPr/>
          <p:nvPr/>
        </p:nvSpPr>
        <p:spPr>
          <a:xfrm>
            <a:off x="365760" y="475488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d7e8a"/>
                </a:solidFill>
                <a:latin typeface="Calibri"/>
                <a:ea typeface="Calibri"/>
              </a:rPr>
              <a:t>ruBert-base  ·  FastAPI  ·  ONNX  ·  Қазақстан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2026-03-29T09:51:17Z</dcterms:created>
  <dc:creator>PptxGenJS</dc:creator>
  <dc:description/>
  <dc:language>en-US</dc:language>
  <cp:lastModifiedBy/>
  <dcterms:modified xsi:type="dcterms:W3CDTF">2026-03-29T17:51:13Z</dcterms:modified>
  <cp:revision>2</cp:revision>
  <dc:subject>PptxGenJS Presentation</dc:subject>
  <dc:title>Қазақстан БАҚ-ындағы дезинформацияны анықтау жүйесі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